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Alegreya Sans" panose="020B0604020202020204" charset="0"/>
      <p:regular r:id="rId18"/>
    </p:embeddedFont>
    <p:embeddedFont>
      <p:font typeface="Atkinson Hyperlegible" panose="020B0604020202020204" charset="0"/>
      <p:regular r:id="rId19"/>
    </p:embeddedFont>
    <p:embeddedFont>
      <p:font typeface="Canva Sans" panose="020B0604020202020204" charset="0"/>
      <p:regular r:id="rId20"/>
    </p:embeddedFont>
    <p:embeddedFont>
      <p:font typeface="Canva Sans Bold" panose="020B0604020202020204" charset="0"/>
      <p:regular r:id="rId21"/>
    </p:embeddedFont>
    <p:embeddedFont>
      <p:font typeface="Canva Sans Italics" panose="020B0604020202020204" charset="0"/>
      <p:regular r:id="rId22"/>
    </p:embeddedFont>
    <p:embeddedFont>
      <p:font typeface="DM Sans" pitchFamily="2" charset="0"/>
      <p:regular r:id="rId23"/>
    </p:embeddedFont>
    <p:embeddedFont>
      <p:font typeface="DM Sans Bold" charset="0"/>
      <p:regular r:id="rId24"/>
    </p:embeddedFont>
    <p:embeddedFont>
      <p:font typeface="Kulachat Serif Bold" panose="020B0604020202020204" charset="-34"/>
      <p:regular r:id="rId25"/>
    </p:embeddedFont>
    <p:embeddedFont>
      <p:font typeface="Raleway Bold" panose="020B0604020202020204" charset="0"/>
      <p:regular r:id="rId26"/>
    </p:embeddedFont>
    <p:embeddedFont>
      <p:font typeface="Raleway Medium" pitchFamily="2" charset="0"/>
      <p:regular r:id="rId27"/>
    </p:embeddedFont>
    <p:embeddedFont>
      <p:font typeface="Raleway Semi-Bold" panose="020B0604020202020204" charset="0"/>
      <p:regular r:id="rId28"/>
    </p:embeddedFont>
    <p:embeddedFont>
      <p:font typeface="Raleway Semi-Bold Italics" panose="020B0604020202020204" charset="0"/>
      <p:regular r:id="rId29"/>
    </p:embeddedFont>
    <p:embeddedFont>
      <p:font typeface="Rodeqa Slab Italics" panose="020B0604020202020204" charset="0"/>
      <p:regular r:id="rId30"/>
    </p:embeddedFont>
    <p:embeddedFont>
      <p:font typeface="TT Bluescreens Bold Italics" panose="020B0604020202020204"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8.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9/10/2024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svg"/><Relationship Id="rId3" Type="http://schemas.openxmlformats.org/officeDocument/2006/relationships/image" Target="../media/image9.svg"/><Relationship Id="rId7" Type="http://schemas.openxmlformats.org/officeDocument/2006/relationships/image" Target="../media/image13.svg"/><Relationship Id="rId12" Type="http://schemas.openxmlformats.org/officeDocument/2006/relationships/image" Target="../media/image18.png"/><Relationship Id="rId2" Type="http://schemas.openxmlformats.org/officeDocument/2006/relationships/image" Target="../media/image8.png"/><Relationship Id="rId16"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7.svg"/><Relationship Id="rId5" Type="http://schemas.openxmlformats.org/officeDocument/2006/relationships/image" Target="../media/image11.svg"/><Relationship Id="rId15" Type="http://schemas.openxmlformats.org/officeDocument/2006/relationships/image" Target="../media/image21.sv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svg"/><Relationship Id="rId14" Type="http://schemas.openxmlformats.org/officeDocument/2006/relationships/image" Target="../media/image2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svg"/><Relationship Id="rId3" Type="http://schemas.openxmlformats.org/officeDocument/2006/relationships/image" Target="../media/image36.svg"/><Relationship Id="rId7" Type="http://schemas.openxmlformats.org/officeDocument/2006/relationships/image" Target="../media/image40.svg"/><Relationship Id="rId12" Type="http://schemas.openxmlformats.org/officeDocument/2006/relationships/image" Target="../media/image45.png"/><Relationship Id="rId17" Type="http://schemas.openxmlformats.org/officeDocument/2006/relationships/image" Target="../media/image50.svg"/><Relationship Id="rId2" Type="http://schemas.openxmlformats.org/officeDocument/2006/relationships/image" Target="../media/image35.png"/><Relationship Id="rId16"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39.png"/><Relationship Id="rId11" Type="http://schemas.openxmlformats.org/officeDocument/2006/relationships/image" Target="../media/image44.svg"/><Relationship Id="rId5" Type="http://schemas.openxmlformats.org/officeDocument/2006/relationships/image" Target="../media/image38.svg"/><Relationship Id="rId15" Type="http://schemas.openxmlformats.org/officeDocument/2006/relationships/image" Target="../media/image48.sv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2.svg"/><Relationship Id="rId14"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sp>
        <p:nvSpPr>
          <p:cNvPr id="2" name="Freeform 2"/>
          <p:cNvSpPr/>
          <p:nvPr/>
        </p:nvSpPr>
        <p:spPr>
          <a:xfrm rot="-10800000">
            <a:off x="-923791" y="-783256"/>
            <a:ext cx="11853512" cy="11853512"/>
          </a:xfrm>
          <a:custGeom>
            <a:avLst/>
            <a:gdLst/>
            <a:ahLst/>
            <a:cxnLst/>
            <a:rect l="l" t="t" r="r" b="b"/>
            <a:pathLst>
              <a:path w="11853512" h="11853512">
                <a:moveTo>
                  <a:pt x="0" y="0"/>
                </a:moveTo>
                <a:lnTo>
                  <a:pt x="11853513" y="0"/>
                </a:lnTo>
                <a:lnTo>
                  <a:pt x="11853513" y="11853512"/>
                </a:lnTo>
                <a:lnTo>
                  <a:pt x="0" y="1185351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1708050" y="2014066"/>
            <a:ext cx="5746778" cy="6258867"/>
          </a:xfrm>
          <a:custGeom>
            <a:avLst/>
            <a:gdLst/>
            <a:ahLst/>
            <a:cxnLst/>
            <a:rect l="l" t="t" r="r" b="b"/>
            <a:pathLst>
              <a:path w="5746778" h="6258867">
                <a:moveTo>
                  <a:pt x="0" y="0"/>
                </a:moveTo>
                <a:lnTo>
                  <a:pt x="5746778" y="0"/>
                </a:lnTo>
                <a:lnTo>
                  <a:pt x="5746778" y="6258868"/>
                </a:lnTo>
                <a:lnTo>
                  <a:pt x="0" y="62588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1028700" y="1789992"/>
            <a:ext cx="8380612" cy="5116450"/>
          </a:xfrm>
          <a:prstGeom prst="rect">
            <a:avLst/>
          </a:prstGeom>
        </p:spPr>
        <p:txBody>
          <a:bodyPr lIns="0" tIns="0" rIns="0" bIns="0" rtlCol="0" anchor="t">
            <a:spAutoFit/>
          </a:bodyPr>
          <a:lstStyle/>
          <a:p>
            <a:pPr marL="0" lvl="1" indent="0" algn="l">
              <a:lnSpc>
                <a:spcPts val="13086"/>
              </a:lnSpc>
            </a:pPr>
            <a:r>
              <a:rPr lang="en-US" sz="14540" b="1" spc="-668">
                <a:solidFill>
                  <a:srgbClr val="00694C"/>
                </a:solidFill>
                <a:latin typeface="Raleway Medium"/>
                <a:ea typeface="Raleway Medium"/>
                <a:cs typeface="Raleway Medium"/>
                <a:sym typeface="Raleway Medium"/>
              </a:rPr>
              <a:t>Public Health Insights</a:t>
            </a:r>
          </a:p>
        </p:txBody>
      </p:sp>
      <p:sp>
        <p:nvSpPr>
          <p:cNvPr id="5" name="TextBox 5"/>
          <p:cNvSpPr txBox="1"/>
          <p:nvPr/>
        </p:nvSpPr>
        <p:spPr>
          <a:xfrm>
            <a:off x="1028700" y="7068367"/>
            <a:ext cx="9179504" cy="752475"/>
          </a:xfrm>
          <a:prstGeom prst="rect">
            <a:avLst/>
          </a:prstGeom>
        </p:spPr>
        <p:txBody>
          <a:bodyPr lIns="0" tIns="0" rIns="0" bIns="0" rtlCol="0" anchor="t">
            <a:spAutoFit/>
          </a:bodyPr>
          <a:lstStyle/>
          <a:p>
            <a:pPr marL="0" lvl="1" indent="0" algn="l">
              <a:lnSpc>
                <a:spcPts val="5400"/>
              </a:lnSpc>
            </a:pPr>
            <a:r>
              <a:rPr lang="en-US" sz="6000" b="1" spc="-276">
                <a:solidFill>
                  <a:srgbClr val="00694C"/>
                </a:solidFill>
                <a:latin typeface="Raleway Medium"/>
                <a:ea typeface="Raleway Medium"/>
                <a:cs typeface="Raleway Medium"/>
                <a:sym typeface="Raleway Medium"/>
              </a:rPr>
              <a:t>Challenges in Environment</a:t>
            </a:r>
          </a:p>
        </p:txBody>
      </p:sp>
      <p:sp>
        <p:nvSpPr>
          <p:cNvPr id="6" name="TextBox 6"/>
          <p:cNvSpPr txBox="1"/>
          <p:nvPr/>
        </p:nvSpPr>
        <p:spPr>
          <a:xfrm>
            <a:off x="1219200" y="8877297"/>
            <a:ext cx="9179504" cy="381003"/>
          </a:xfrm>
          <a:prstGeom prst="rect">
            <a:avLst/>
          </a:prstGeom>
        </p:spPr>
        <p:txBody>
          <a:bodyPr lIns="0" tIns="0" rIns="0" bIns="0" rtlCol="0" anchor="t">
            <a:spAutoFit/>
          </a:bodyPr>
          <a:lstStyle/>
          <a:p>
            <a:pPr marL="0" lvl="1" indent="0" algn="l">
              <a:lnSpc>
                <a:spcPts val="2700"/>
              </a:lnSpc>
            </a:pPr>
            <a:r>
              <a:rPr lang="en-US" sz="3000" b="1" spc="-138">
                <a:solidFill>
                  <a:srgbClr val="00694C"/>
                </a:solidFill>
                <a:latin typeface="Raleway Medium"/>
                <a:ea typeface="Raleway Medium"/>
                <a:cs typeface="Raleway Medium"/>
                <a:sym typeface="Raleway Medium"/>
              </a:rPr>
              <a:t>                                              -Presented by DATA DELVERS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4F6EC"/>
        </a:solidFill>
        <a:effectLst/>
      </p:bgPr>
    </p:bg>
    <p:spTree>
      <p:nvGrpSpPr>
        <p:cNvPr id="1" name=""/>
        <p:cNvGrpSpPr/>
        <p:nvPr/>
      </p:nvGrpSpPr>
      <p:grpSpPr>
        <a:xfrm>
          <a:off x="0" y="0"/>
          <a:ext cx="0" cy="0"/>
          <a:chOff x="0" y="0"/>
          <a:chExt cx="0" cy="0"/>
        </a:xfrm>
      </p:grpSpPr>
      <p:grpSp>
        <p:nvGrpSpPr>
          <p:cNvPr id="2" name="Group 2"/>
          <p:cNvGrpSpPr/>
          <p:nvPr/>
        </p:nvGrpSpPr>
        <p:grpSpPr>
          <a:xfrm>
            <a:off x="1283945" y="3345721"/>
            <a:ext cx="4860024" cy="4860024"/>
            <a:chOff x="0" y="0"/>
            <a:chExt cx="12700000" cy="12700000"/>
          </a:xfrm>
        </p:grpSpPr>
        <p:sp>
          <p:nvSpPr>
            <p:cNvPr id="3" name="Freeform 3"/>
            <p:cNvSpPr/>
            <p:nvPr/>
          </p:nvSpPr>
          <p:spPr>
            <a:xfrm>
              <a:off x="-11430" y="857250"/>
              <a:ext cx="13009880" cy="11644630"/>
            </a:xfrm>
            <a:custGeom>
              <a:avLst/>
              <a:gdLst/>
              <a:ahLst/>
              <a:cxnLst/>
              <a:rect l="l" t="t" r="r" b="b"/>
              <a:pathLst>
                <a:path w="13009880" h="11644630">
                  <a:moveTo>
                    <a:pt x="10152380" y="938530"/>
                  </a:moveTo>
                  <a:cubicBezTo>
                    <a:pt x="8962390" y="189230"/>
                    <a:pt x="8643620" y="154940"/>
                    <a:pt x="7245350" y="0"/>
                  </a:cubicBezTo>
                  <a:cubicBezTo>
                    <a:pt x="4039870" y="38100"/>
                    <a:pt x="1441450" y="1889760"/>
                    <a:pt x="435610" y="4933950"/>
                  </a:cubicBezTo>
                  <a:cubicBezTo>
                    <a:pt x="91440" y="5975350"/>
                    <a:pt x="0" y="7139940"/>
                    <a:pt x="403860" y="8159750"/>
                  </a:cubicBezTo>
                  <a:cubicBezTo>
                    <a:pt x="934720" y="9499600"/>
                    <a:pt x="2254250" y="10407650"/>
                    <a:pt x="3648710" y="10773410"/>
                  </a:cubicBezTo>
                  <a:cubicBezTo>
                    <a:pt x="5043170" y="11140440"/>
                    <a:pt x="6578600" y="11644630"/>
                    <a:pt x="8008620" y="11470640"/>
                  </a:cubicBezTo>
                  <a:cubicBezTo>
                    <a:pt x="9123680" y="11334750"/>
                    <a:pt x="10237470" y="10519410"/>
                    <a:pt x="11071860" y="9767570"/>
                  </a:cubicBezTo>
                  <a:cubicBezTo>
                    <a:pt x="11625580" y="9268460"/>
                    <a:pt x="11971020" y="8576310"/>
                    <a:pt x="12202160" y="7867650"/>
                  </a:cubicBezTo>
                  <a:cubicBezTo>
                    <a:pt x="13009880" y="5401310"/>
                    <a:pt x="12348210" y="2322830"/>
                    <a:pt x="10152380" y="938530"/>
                  </a:cubicBezTo>
                  <a:close/>
                </a:path>
              </a:pathLst>
            </a:custGeom>
            <a:blipFill>
              <a:blip r:embed="rId2"/>
              <a:stretch>
                <a:fillRect l="-1439" r="-175840" b="-103515"/>
              </a:stretch>
            </a:blipFill>
          </p:spPr>
        </p:sp>
      </p:grpSp>
      <p:grpSp>
        <p:nvGrpSpPr>
          <p:cNvPr id="4" name="Group 4"/>
          <p:cNvGrpSpPr/>
          <p:nvPr/>
        </p:nvGrpSpPr>
        <p:grpSpPr>
          <a:xfrm>
            <a:off x="6783943" y="3406425"/>
            <a:ext cx="4720114" cy="4720114"/>
            <a:chOff x="0" y="0"/>
            <a:chExt cx="12700000" cy="12700000"/>
          </a:xfrm>
        </p:grpSpPr>
        <p:sp>
          <p:nvSpPr>
            <p:cNvPr id="5" name="Freeform 5"/>
            <p:cNvSpPr/>
            <p:nvPr/>
          </p:nvSpPr>
          <p:spPr>
            <a:xfrm>
              <a:off x="-11430" y="857250"/>
              <a:ext cx="13009880" cy="11644630"/>
            </a:xfrm>
            <a:custGeom>
              <a:avLst/>
              <a:gdLst/>
              <a:ahLst/>
              <a:cxnLst/>
              <a:rect l="l" t="t" r="r" b="b"/>
              <a:pathLst>
                <a:path w="13009880" h="11644630">
                  <a:moveTo>
                    <a:pt x="10152380" y="938530"/>
                  </a:moveTo>
                  <a:cubicBezTo>
                    <a:pt x="8962390" y="189230"/>
                    <a:pt x="8643620" y="154940"/>
                    <a:pt x="7245350" y="0"/>
                  </a:cubicBezTo>
                  <a:cubicBezTo>
                    <a:pt x="4039870" y="38100"/>
                    <a:pt x="1441450" y="1889760"/>
                    <a:pt x="435610" y="4933950"/>
                  </a:cubicBezTo>
                  <a:cubicBezTo>
                    <a:pt x="91440" y="5975350"/>
                    <a:pt x="0" y="7139940"/>
                    <a:pt x="403860" y="8159750"/>
                  </a:cubicBezTo>
                  <a:cubicBezTo>
                    <a:pt x="934720" y="9499600"/>
                    <a:pt x="2254250" y="10407650"/>
                    <a:pt x="3648710" y="10773410"/>
                  </a:cubicBezTo>
                  <a:cubicBezTo>
                    <a:pt x="5043170" y="11140440"/>
                    <a:pt x="6578600" y="11644630"/>
                    <a:pt x="8008620" y="11470640"/>
                  </a:cubicBezTo>
                  <a:cubicBezTo>
                    <a:pt x="9123680" y="11334750"/>
                    <a:pt x="10237470" y="10519410"/>
                    <a:pt x="11071860" y="9767570"/>
                  </a:cubicBezTo>
                  <a:cubicBezTo>
                    <a:pt x="11625580" y="9268460"/>
                    <a:pt x="11971020" y="8576310"/>
                    <a:pt x="12202160" y="7867650"/>
                  </a:cubicBezTo>
                  <a:cubicBezTo>
                    <a:pt x="13009880" y="5401310"/>
                    <a:pt x="12348210" y="2322830"/>
                    <a:pt x="10152380" y="938530"/>
                  </a:cubicBezTo>
                  <a:close/>
                </a:path>
              </a:pathLst>
            </a:custGeom>
            <a:blipFill>
              <a:blip r:embed="rId2"/>
              <a:stretch>
                <a:fillRect l="-96543" r="-75985" b="-100027"/>
              </a:stretch>
            </a:blipFill>
          </p:spPr>
        </p:sp>
      </p:grpSp>
      <p:grpSp>
        <p:nvGrpSpPr>
          <p:cNvPr id="6" name="Group 6"/>
          <p:cNvGrpSpPr/>
          <p:nvPr/>
        </p:nvGrpSpPr>
        <p:grpSpPr>
          <a:xfrm>
            <a:off x="12327512" y="3612178"/>
            <a:ext cx="4478121" cy="4478121"/>
            <a:chOff x="0" y="0"/>
            <a:chExt cx="12700000" cy="12700000"/>
          </a:xfrm>
        </p:grpSpPr>
        <p:sp>
          <p:nvSpPr>
            <p:cNvPr id="7" name="Freeform 7"/>
            <p:cNvSpPr/>
            <p:nvPr/>
          </p:nvSpPr>
          <p:spPr>
            <a:xfrm>
              <a:off x="-11430" y="857250"/>
              <a:ext cx="13009880" cy="11644630"/>
            </a:xfrm>
            <a:custGeom>
              <a:avLst/>
              <a:gdLst/>
              <a:ahLst/>
              <a:cxnLst/>
              <a:rect l="l" t="t" r="r" b="b"/>
              <a:pathLst>
                <a:path w="13009880" h="11644630">
                  <a:moveTo>
                    <a:pt x="10152380" y="938530"/>
                  </a:moveTo>
                  <a:cubicBezTo>
                    <a:pt x="8962390" y="189230"/>
                    <a:pt x="8643620" y="154940"/>
                    <a:pt x="7245350" y="0"/>
                  </a:cubicBezTo>
                  <a:cubicBezTo>
                    <a:pt x="4039870" y="38100"/>
                    <a:pt x="1441450" y="1889760"/>
                    <a:pt x="435610" y="4933950"/>
                  </a:cubicBezTo>
                  <a:cubicBezTo>
                    <a:pt x="91440" y="5975350"/>
                    <a:pt x="0" y="7139940"/>
                    <a:pt x="403860" y="8159750"/>
                  </a:cubicBezTo>
                  <a:cubicBezTo>
                    <a:pt x="934720" y="9499600"/>
                    <a:pt x="2254250" y="10407650"/>
                    <a:pt x="3648710" y="10773410"/>
                  </a:cubicBezTo>
                  <a:cubicBezTo>
                    <a:pt x="5043170" y="11140440"/>
                    <a:pt x="6578600" y="11644630"/>
                    <a:pt x="8008620" y="11470640"/>
                  </a:cubicBezTo>
                  <a:cubicBezTo>
                    <a:pt x="9123680" y="11334750"/>
                    <a:pt x="10237470" y="10519410"/>
                    <a:pt x="11071860" y="9767570"/>
                  </a:cubicBezTo>
                  <a:cubicBezTo>
                    <a:pt x="11625580" y="9268460"/>
                    <a:pt x="11971020" y="8576310"/>
                    <a:pt x="12202160" y="7867650"/>
                  </a:cubicBezTo>
                  <a:cubicBezTo>
                    <a:pt x="13009880" y="5401310"/>
                    <a:pt x="12348210" y="2322830"/>
                    <a:pt x="10152380" y="938530"/>
                  </a:cubicBezTo>
                  <a:close/>
                </a:path>
              </a:pathLst>
            </a:custGeom>
            <a:blipFill>
              <a:blip r:embed="rId2"/>
              <a:stretch>
                <a:fillRect l="-213804" t="-9235" b="-121087"/>
              </a:stretch>
            </a:blipFill>
          </p:spPr>
        </p:sp>
      </p:grpSp>
      <p:sp>
        <p:nvSpPr>
          <p:cNvPr id="8" name="TextBox 8"/>
          <p:cNvSpPr txBox="1"/>
          <p:nvPr/>
        </p:nvSpPr>
        <p:spPr>
          <a:xfrm>
            <a:off x="4989903" y="1230891"/>
            <a:ext cx="8460767" cy="815906"/>
          </a:xfrm>
          <a:prstGeom prst="rect">
            <a:avLst/>
          </a:prstGeom>
        </p:spPr>
        <p:txBody>
          <a:bodyPr lIns="0" tIns="0" rIns="0" bIns="0" rtlCol="0" anchor="t">
            <a:spAutoFit/>
          </a:bodyPr>
          <a:lstStyle/>
          <a:p>
            <a:pPr algn="ctr">
              <a:lnSpc>
                <a:spcPts val="5073"/>
              </a:lnSpc>
            </a:pPr>
            <a:r>
              <a:rPr lang="en-US" sz="5831">
                <a:solidFill>
                  <a:srgbClr val="333331"/>
                </a:solidFill>
                <a:latin typeface="Alegreya Sans"/>
                <a:ea typeface="Alegreya Sans"/>
                <a:cs typeface="Alegreya Sans"/>
                <a:sym typeface="Alegreya Sans"/>
              </a:rPr>
              <a:t>WHO ARE DATA DELVERS?</a:t>
            </a:r>
          </a:p>
        </p:txBody>
      </p:sp>
      <p:sp>
        <p:nvSpPr>
          <p:cNvPr id="9" name="TextBox 9"/>
          <p:cNvSpPr txBox="1"/>
          <p:nvPr/>
        </p:nvSpPr>
        <p:spPr>
          <a:xfrm>
            <a:off x="2541369" y="8210287"/>
            <a:ext cx="2254415" cy="576479"/>
          </a:xfrm>
          <a:prstGeom prst="rect">
            <a:avLst/>
          </a:prstGeom>
        </p:spPr>
        <p:txBody>
          <a:bodyPr lIns="0" tIns="0" rIns="0" bIns="0" rtlCol="0" anchor="t">
            <a:spAutoFit/>
          </a:bodyPr>
          <a:lstStyle/>
          <a:p>
            <a:pPr algn="ctr">
              <a:lnSpc>
                <a:spcPts val="4751"/>
              </a:lnSpc>
            </a:pPr>
            <a:r>
              <a:rPr lang="en-US" sz="3393" b="1" spc="441">
                <a:solidFill>
                  <a:srgbClr val="333331"/>
                </a:solidFill>
                <a:latin typeface="DM Sans Bold"/>
                <a:ea typeface="DM Sans Bold"/>
                <a:cs typeface="DM Sans Bold"/>
                <a:sym typeface="DM Sans Bold"/>
              </a:rPr>
              <a:t>SUPRIYA</a:t>
            </a:r>
          </a:p>
        </p:txBody>
      </p:sp>
      <p:sp>
        <p:nvSpPr>
          <p:cNvPr id="10" name="TextBox 10"/>
          <p:cNvSpPr txBox="1"/>
          <p:nvPr/>
        </p:nvSpPr>
        <p:spPr>
          <a:xfrm>
            <a:off x="1283945" y="8838604"/>
            <a:ext cx="4619222" cy="322970"/>
          </a:xfrm>
          <a:prstGeom prst="rect">
            <a:avLst/>
          </a:prstGeom>
        </p:spPr>
        <p:txBody>
          <a:bodyPr lIns="0" tIns="0" rIns="0" bIns="0" rtlCol="0" anchor="t">
            <a:spAutoFit/>
          </a:bodyPr>
          <a:lstStyle/>
          <a:p>
            <a:pPr algn="ctr">
              <a:lnSpc>
                <a:spcPts val="2672"/>
              </a:lnSpc>
            </a:pPr>
            <a:r>
              <a:rPr lang="en-US" sz="1908" spc="248">
                <a:solidFill>
                  <a:srgbClr val="333331"/>
                </a:solidFill>
                <a:latin typeface="DM Sans"/>
                <a:ea typeface="DM Sans"/>
                <a:cs typeface="DM Sans"/>
                <a:sym typeface="DM Sans"/>
              </a:rPr>
              <a:t>TEAM MEMBER</a:t>
            </a:r>
          </a:p>
        </p:txBody>
      </p:sp>
      <p:sp>
        <p:nvSpPr>
          <p:cNvPr id="11" name="TextBox 11"/>
          <p:cNvSpPr txBox="1"/>
          <p:nvPr/>
        </p:nvSpPr>
        <p:spPr>
          <a:xfrm>
            <a:off x="6910675" y="8838604"/>
            <a:ext cx="4619222" cy="322970"/>
          </a:xfrm>
          <a:prstGeom prst="rect">
            <a:avLst/>
          </a:prstGeom>
        </p:spPr>
        <p:txBody>
          <a:bodyPr lIns="0" tIns="0" rIns="0" bIns="0" rtlCol="0" anchor="t">
            <a:spAutoFit/>
          </a:bodyPr>
          <a:lstStyle/>
          <a:p>
            <a:pPr algn="ctr">
              <a:lnSpc>
                <a:spcPts val="2672"/>
              </a:lnSpc>
            </a:pPr>
            <a:r>
              <a:rPr lang="en-US" sz="1908" spc="248">
                <a:solidFill>
                  <a:srgbClr val="333331"/>
                </a:solidFill>
                <a:latin typeface="DM Sans"/>
                <a:ea typeface="DM Sans"/>
                <a:cs typeface="DM Sans"/>
                <a:sym typeface="DM Sans"/>
              </a:rPr>
              <a:t>TEAM MEMBER</a:t>
            </a:r>
          </a:p>
        </p:txBody>
      </p:sp>
      <p:sp>
        <p:nvSpPr>
          <p:cNvPr id="12" name="TextBox 12"/>
          <p:cNvSpPr txBox="1"/>
          <p:nvPr/>
        </p:nvSpPr>
        <p:spPr>
          <a:xfrm>
            <a:off x="13450669" y="8139070"/>
            <a:ext cx="3354964" cy="576479"/>
          </a:xfrm>
          <a:prstGeom prst="rect">
            <a:avLst/>
          </a:prstGeom>
        </p:spPr>
        <p:txBody>
          <a:bodyPr lIns="0" tIns="0" rIns="0" bIns="0" rtlCol="0" anchor="t">
            <a:spAutoFit/>
          </a:bodyPr>
          <a:lstStyle/>
          <a:p>
            <a:pPr marL="0" lvl="0" indent="0" algn="ctr">
              <a:lnSpc>
                <a:spcPts val="4751"/>
              </a:lnSpc>
              <a:spcBef>
                <a:spcPct val="0"/>
              </a:spcBef>
            </a:pPr>
            <a:r>
              <a:rPr lang="en-US" sz="3393" b="1" spc="441">
                <a:solidFill>
                  <a:srgbClr val="333331"/>
                </a:solidFill>
                <a:latin typeface="DM Sans Bold"/>
                <a:ea typeface="DM Sans Bold"/>
                <a:cs typeface="DM Sans Bold"/>
                <a:sym typeface="DM Sans Bold"/>
              </a:rPr>
              <a:t>VAISHNAVI</a:t>
            </a:r>
          </a:p>
        </p:txBody>
      </p:sp>
      <p:sp>
        <p:nvSpPr>
          <p:cNvPr id="13" name="TextBox 13"/>
          <p:cNvSpPr txBox="1"/>
          <p:nvPr/>
        </p:nvSpPr>
        <p:spPr>
          <a:xfrm>
            <a:off x="12818540" y="8792894"/>
            <a:ext cx="4619222" cy="322970"/>
          </a:xfrm>
          <a:prstGeom prst="rect">
            <a:avLst/>
          </a:prstGeom>
        </p:spPr>
        <p:txBody>
          <a:bodyPr lIns="0" tIns="0" rIns="0" bIns="0" rtlCol="0" anchor="t">
            <a:spAutoFit/>
          </a:bodyPr>
          <a:lstStyle/>
          <a:p>
            <a:pPr algn="ctr">
              <a:lnSpc>
                <a:spcPts val="2672"/>
              </a:lnSpc>
            </a:pPr>
            <a:r>
              <a:rPr lang="en-US" sz="1908" spc="248">
                <a:solidFill>
                  <a:srgbClr val="333331"/>
                </a:solidFill>
                <a:latin typeface="DM Sans"/>
                <a:ea typeface="DM Sans"/>
                <a:cs typeface="DM Sans"/>
                <a:sym typeface="DM Sans"/>
              </a:rPr>
              <a:t>TEAM MEMBER</a:t>
            </a:r>
          </a:p>
        </p:txBody>
      </p:sp>
      <p:sp>
        <p:nvSpPr>
          <p:cNvPr id="14" name="TextBox 14"/>
          <p:cNvSpPr txBox="1"/>
          <p:nvPr/>
        </p:nvSpPr>
        <p:spPr>
          <a:xfrm>
            <a:off x="7380666" y="8210287"/>
            <a:ext cx="3590215" cy="576479"/>
          </a:xfrm>
          <a:prstGeom prst="rect">
            <a:avLst/>
          </a:prstGeom>
        </p:spPr>
        <p:txBody>
          <a:bodyPr lIns="0" tIns="0" rIns="0" bIns="0" rtlCol="0" anchor="t">
            <a:spAutoFit/>
          </a:bodyPr>
          <a:lstStyle/>
          <a:p>
            <a:pPr algn="ctr">
              <a:lnSpc>
                <a:spcPts val="4751"/>
              </a:lnSpc>
            </a:pPr>
            <a:r>
              <a:rPr lang="en-US" sz="3393" b="1" spc="441">
                <a:solidFill>
                  <a:srgbClr val="333331"/>
                </a:solidFill>
                <a:latin typeface="DM Sans Bold"/>
                <a:ea typeface="DM Sans Bold"/>
                <a:cs typeface="DM Sans Bold"/>
                <a:sym typeface="DM Sans Bold"/>
              </a:rPr>
              <a:t>SAI ESWARI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4F6EC"/>
        </a:solidFill>
        <a:effectLst/>
      </p:bgPr>
    </p:bg>
    <p:spTree>
      <p:nvGrpSpPr>
        <p:cNvPr id="1" name=""/>
        <p:cNvGrpSpPr/>
        <p:nvPr/>
      </p:nvGrpSpPr>
      <p:grpSpPr>
        <a:xfrm>
          <a:off x="0" y="0"/>
          <a:ext cx="0" cy="0"/>
          <a:chOff x="0" y="0"/>
          <a:chExt cx="0" cy="0"/>
        </a:xfrm>
      </p:grpSpPr>
      <p:sp>
        <p:nvSpPr>
          <p:cNvPr id="2" name="Freeform 2"/>
          <p:cNvSpPr/>
          <p:nvPr/>
        </p:nvSpPr>
        <p:spPr>
          <a:xfrm>
            <a:off x="9350827" y="2554268"/>
            <a:ext cx="8405092" cy="5662931"/>
          </a:xfrm>
          <a:custGeom>
            <a:avLst/>
            <a:gdLst/>
            <a:ahLst/>
            <a:cxnLst/>
            <a:rect l="l" t="t" r="r" b="b"/>
            <a:pathLst>
              <a:path w="8405092" h="5662931">
                <a:moveTo>
                  <a:pt x="0" y="0"/>
                </a:moveTo>
                <a:lnTo>
                  <a:pt x="8405092" y="0"/>
                </a:lnTo>
                <a:lnTo>
                  <a:pt x="8405092" y="5662931"/>
                </a:lnTo>
                <a:lnTo>
                  <a:pt x="0" y="56629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929408" y="1304925"/>
            <a:ext cx="7924800" cy="1249343"/>
          </a:xfrm>
          <a:prstGeom prst="rect">
            <a:avLst/>
          </a:prstGeom>
        </p:spPr>
        <p:txBody>
          <a:bodyPr lIns="0" tIns="0" rIns="0" bIns="0" rtlCol="0" anchor="t">
            <a:spAutoFit/>
          </a:bodyPr>
          <a:lstStyle/>
          <a:p>
            <a:pPr marL="0" lvl="1" indent="0" algn="l">
              <a:lnSpc>
                <a:spcPts val="9037"/>
              </a:lnSpc>
            </a:pPr>
            <a:r>
              <a:rPr lang="en-US" sz="10041" b="1" spc="-461">
                <a:solidFill>
                  <a:srgbClr val="00694C"/>
                </a:solidFill>
                <a:latin typeface="Raleway Medium"/>
                <a:ea typeface="Raleway Medium"/>
                <a:cs typeface="Raleway Medium"/>
                <a:sym typeface="Raleway Medium"/>
              </a:rPr>
              <a:t>ABSTRACT</a:t>
            </a:r>
          </a:p>
        </p:txBody>
      </p:sp>
      <p:sp>
        <p:nvSpPr>
          <p:cNvPr id="4" name="TextBox 4"/>
          <p:cNvSpPr txBox="1"/>
          <p:nvPr/>
        </p:nvSpPr>
        <p:spPr>
          <a:xfrm>
            <a:off x="784512" y="2907119"/>
            <a:ext cx="8214592" cy="5845735"/>
          </a:xfrm>
          <a:prstGeom prst="rect">
            <a:avLst/>
          </a:prstGeom>
        </p:spPr>
        <p:txBody>
          <a:bodyPr lIns="0" tIns="0" rIns="0" bIns="0" rtlCol="0" anchor="t">
            <a:spAutoFit/>
          </a:bodyPr>
          <a:lstStyle/>
          <a:p>
            <a:pPr marL="561980" lvl="1" indent="-280990" algn="just">
              <a:lnSpc>
                <a:spcPts val="3644"/>
              </a:lnSpc>
              <a:buFont typeface="Arial"/>
              <a:buChar char="•"/>
            </a:pPr>
            <a:r>
              <a:rPr lang="en-US" sz="2602">
                <a:solidFill>
                  <a:srgbClr val="000000"/>
                </a:solidFill>
                <a:latin typeface="DM Sans"/>
                <a:ea typeface="DM Sans"/>
                <a:cs typeface="DM Sans"/>
                <a:sym typeface="DM Sans"/>
              </a:rPr>
              <a:t>This project’s main goal is to provide health insights based on health datasets and environmental data sets.</a:t>
            </a:r>
          </a:p>
          <a:p>
            <a:pPr algn="just">
              <a:lnSpc>
                <a:spcPts val="3644"/>
              </a:lnSpc>
            </a:pPr>
            <a:endParaRPr lang="en-US" sz="2602">
              <a:solidFill>
                <a:srgbClr val="000000"/>
              </a:solidFill>
              <a:latin typeface="DM Sans"/>
              <a:ea typeface="DM Sans"/>
              <a:cs typeface="DM Sans"/>
              <a:sym typeface="DM Sans"/>
            </a:endParaRPr>
          </a:p>
          <a:p>
            <a:pPr marL="561980" lvl="1" indent="-280990" algn="just">
              <a:lnSpc>
                <a:spcPts val="3644"/>
              </a:lnSpc>
              <a:buFont typeface="Arial"/>
              <a:buChar char="•"/>
            </a:pPr>
            <a:r>
              <a:rPr lang="en-US" sz="2602">
                <a:solidFill>
                  <a:srgbClr val="000000"/>
                </a:solidFill>
                <a:latin typeface="DM Sans"/>
                <a:ea typeface="DM Sans"/>
                <a:cs typeface="DM Sans"/>
                <a:sym typeface="DM Sans"/>
              </a:rPr>
              <a:t>Why did we select this project? Typically, health analysis focus solely on health datasets. However, considering the significant impact of the environment on health, we've decided to include environmental datasets as well.</a:t>
            </a:r>
          </a:p>
          <a:p>
            <a:pPr algn="just">
              <a:lnSpc>
                <a:spcPts val="3644"/>
              </a:lnSpc>
            </a:pPr>
            <a:endParaRPr lang="en-US" sz="2602">
              <a:solidFill>
                <a:srgbClr val="000000"/>
              </a:solidFill>
              <a:latin typeface="DM Sans"/>
              <a:ea typeface="DM Sans"/>
              <a:cs typeface="DM Sans"/>
              <a:sym typeface="DM Sans"/>
            </a:endParaRPr>
          </a:p>
          <a:p>
            <a:pPr marL="561980" lvl="1" indent="-280990" algn="just">
              <a:lnSpc>
                <a:spcPts val="3644"/>
              </a:lnSpc>
              <a:buFont typeface="Arial"/>
              <a:buChar char="•"/>
            </a:pPr>
            <a:r>
              <a:rPr lang="en-US" sz="2602">
                <a:solidFill>
                  <a:srgbClr val="000000"/>
                </a:solidFill>
                <a:latin typeface="DM Sans"/>
                <a:ea typeface="DM Sans"/>
                <a:cs typeface="DM Sans"/>
                <a:sym typeface="DM Sans"/>
              </a:rPr>
              <a:t>we will provide visualizations and preventions for an particular disease.</a:t>
            </a:r>
          </a:p>
          <a:p>
            <a:pPr algn="just">
              <a:lnSpc>
                <a:spcPts val="2944"/>
              </a:lnSpc>
              <a:spcBef>
                <a:spcPct val="0"/>
              </a:spcBef>
            </a:pPr>
            <a:endParaRPr lang="en-US" sz="2602">
              <a:solidFill>
                <a:srgbClr val="000000"/>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4F6EC"/>
        </a:solidFill>
        <a:effectLst/>
      </p:bgPr>
    </p:bg>
    <p:spTree>
      <p:nvGrpSpPr>
        <p:cNvPr id="1" name=""/>
        <p:cNvGrpSpPr/>
        <p:nvPr/>
      </p:nvGrpSpPr>
      <p:grpSpPr>
        <a:xfrm>
          <a:off x="0" y="0"/>
          <a:ext cx="0" cy="0"/>
          <a:chOff x="0" y="0"/>
          <a:chExt cx="0" cy="0"/>
        </a:xfrm>
      </p:grpSpPr>
      <p:sp>
        <p:nvSpPr>
          <p:cNvPr id="2" name="Freeform 2"/>
          <p:cNvSpPr/>
          <p:nvPr/>
        </p:nvSpPr>
        <p:spPr>
          <a:xfrm>
            <a:off x="14750268" y="7464769"/>
            <a:ext cx="4529529" cy="3780098"/>
          </a:xfrm>
          <a:custGeom>
            <a:avLst/>
            <a:gdLst/>
            <a:ahLst/>
            <a:cxnLst/>
            <a:rect l="l" t="t" r="r" b="b"/>
            <a:pathLst>
              <a:path w="4529529" h="3780098">
                <a:moveTo>
                  <a:pt x="0" y="0"/>
                </a:moveTo>
                <a:lnTo>
                  <a:pt x="4529529" y="0"/>
                </a:lnTo>
                <a:lnTo>
                  <a:pt x="4529529" y="3780098"/>
                </a:lnTo>
                <a:lnTo>
                  <a:pt x="0" y="3780098"/>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1302276" y="-2383108"/>
            <a:ext cx="4661953" cy="4748285"/>
          </a:xfrm>
          <a:custGeom>
            <a:avLst/>
            <a:gdLst/>
            <a:ahLst/>
            <a:cxnLst/>
            <a:rect l="l" t="t" r="r" b="b"/>
            <a:pathLst>
              <a:path w="4661953" h="4748285">
                <a:moveTo>
                  <a:pt x="0" y="0"/>
                </a:moveTo>
                <a:lnTo>
                  <a:pt x="4661952" y="0"/>
                </a:lnTo>
                <a:lnTo>
                  <a:pt x="4661952" y="4748285"/>
                </a:lnTo>
                <a:lnTo>
                  <a:pt x="0" y="4748285"/>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4" name="Freeform 4"/>
          <p:cNvSpPr/>
          <p:nvPr/>
        </p:nvSpPr>
        <p:spPr>
          <a:xfrm>
            <a:off x="7604335" y="169948"/>
            <a:ext cx="2097469" cy="1819554"/>
          </a:xfrm>
          <a:custGeom>
            <a:avLst/>
            <a:gdLst/>
            <a:ahLst/>
            <a:cxnLst/>
            <a:rect l="l" t="t" r="r" b="b"/>
            <a:pathLst>
              <a:path w="2097469" h="1819554">
                <a:moveTo>
                  <a:pt x="0" y="0"/>
                </a:moveTo>
                <a:lnTo>
                  <a:pt x="2097468" y="0"/>
                </a:lnTo>
                <a:lnTo>
                  <a:pt x="2097468" y="1819554"/>
                </a:lnTo>
                <a:lnTo>
                  <a:pt x="0" y="181955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11285649" y="2160448"/>
            <a:ext cx="2047836" cy="2047836"/>
          </a:xfrm>
          <a:custGeom>
            <a:avLst/>
            <a:gdLst/>
            <a:ahLst/>
            <a:cxnLst/>
            <a:rect l="l" t="t" r="r" b="b"/>
            <a:pathLst>
              <a:path w="2047836" h="2047836">
                <a:moveTo>
                  <a:pt x="0" y="0"/>
                </a:moveTo>
                <a:lnTo>
                  <a:pt x="2047836" y="0"/>
                </a:lnTo>
                <a:lnTo>
                  <a:pt x="2047836" y="2047836"/>
                </a:lnTo>
                <a:lnTo>
                  <a:pt x="0" y="204783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3880941" y="5521150"/>
            <a:ext cx="1969731" cy="2138107"/>
          </a:xfrm>
          <a:custGeom>
            <a:avLst/>
            <a:gdLst/>
            <a:ahLst/>
            <a:cxnLst/>
            <a:rect l="l" t="t" r="r" b="b"/>
            <a:pathLst>
              <a:path w="1969731" h="2138107">
                <a:moveTo>
                  <a:pt x="0" y="0"/>
                </a:moveTo>
                <a:lnTo>
                  <a:pt x="1969732" y="0"/>
                </a:lnTo>
                <a:lnTo>
                  <a:pt x="1969732" y="2138107"/>
                </a:lnTo>
                <a:lnTo>
                  <a:pt x="0" y="2138107"/>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Freeform 7"/>
          <p:cNvSpPr/>
          <p:nvPr/>
        </p:nvSpPr>
        <p:spPr>
          <a:xfrm>
            <a:off x="3965409" y="2160448"/>
            <a:ext cx="2007539" cy="2007539"/>
          </a:xfrm>
          <a:custGeom>
            <a:avLst/>
            <a:gdLst/>
            <a:ahLst/>
            <a:cxnLst/>
            <a:rect l="l" t="t" r="r" b="b"/>
            <a:pathLst>
              <a:path w="2007539" h="2007539">
                <a:moveTo>
                  <a:pt x="0" y="0"/>
                </a:moveTo>
                <a:lnTo>
                  <a:pt x="2007539" y="0"/>
                </a:lnTo>
                <a:lnTo>
                  <a:pt x="2007539" y="2007540"/>
                </a:lnTo>
                <a:lnTo>
                  <a:pt x="0" y="200754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8" name="Freeform 8"/>
          <p:cNvSpPr/>
          <p:nvPr/>
        </p:nvSpPr>
        <p:spPr>
          <a:xfrm>
            <a:off x="11348142" y="5593437"/>
            <a:ext cx="2402254" cy="1978857"/>
          </a:xfrm>
          <a:custGeom>
            <a:avLst/>
            <a:gdLst/>
            <a:ahLst/>
            <a:cxnLst/>
            <a:rect l="l" t="t" r="r" b="b"/>
            <a:pathLst>
              <a:path w="2402254" h="1978857">
                <a:moveTo>
                  <a:pt x="0" y="0"/>
                </a:moveTo>
                <a:lnTo>
                  <a:pt x="2402254" y="0"/>
                </a:lnTo>
                <a:lnTo>
                  <a:pt x="2402254" y="1978857"/>
                </a:lnTo>
                <a:lnTo>
                  <a:pt x="0" y="1978857"/>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9" name="Freeform 9"/>
          <p:cNvSpPr/>
          <p:nvPr/>
        </p:nvSpPr>
        <p:spPr>
          <a:xfrm>
            <a:off x="7604335" y="8066974"/>
            <a:ext cx="2398881" cy="1870999"/>
          </a:xfrm>
          <a:custGeom>
            <a:avLst/>
            <a:gdLst/>
            <a:ahLst/>
            <a:cxnLst/>
            <a:rect l="l" t="t" r="r" b="b"/>
            <a:pathLst>
              <a:path w="2398881" h="1870999">
                <a:moveTo>
                  <a:pt x="0" y="0"/>
                </a:moveTo>
                <a:lnTo>
                  <a:pt x="2398881" y="0"/>
                </a:lnTo>
                <a:lnTo>
                  <a:pt x="2398881" y="1870999"/>
                </a:lnTo>
                <a:lnTo>
                  <a:pt x="0" y="1870999"/>
                </a:lnTo>
                <a:lnTo>
                  <a:pt x="0" y="0"/>
                </a:lnTo>
                <a:close/>
              </a:path>
            </a:pathLst>
          </a:custGeom>
          <a:blipFill>
            <a:blip r:embed="rId16"/>
            <a:stretch>
              <a:fillRect l="-115186" t="-5887" r="-149078" b="-174460"/>
            </a:stretch>
          </a:blipFill>
        </p:spPr>
      </p:sp>
      <p:grpSp>
        <p:nvGrpSpPr>
          <p:cNvPr id="10" name="Group 10"/>
          <p:cNvGrpSpPr/>
          <p:nvPr/>
        </p:nvGrpSpPr>
        <p:grpSpPr>
          <a:xfrm>
            <a:off x="7095770" y="3539098"/>
            <a:ext cx="3208804" cy="320880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CDA6"/>
            </a:solidFill>
          </p:spPr>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3960493" y="7659257"/>
            <a:ext cx="2185965" cy="322589"/>
          </a:xfrm>
          <a:prstGeom prst="rect">
            <a:avLst/>
          </a:prstGeom>
        </p:spPr>
        <p:txBody>
          <a:bodyPr wrap="square" lIns="0" tIns="0" rIns="0" bIns="0" rtlCol="0" anchor="t">
            <a:spAutoFit/>
          </a:bodyPr>
          <a:lstStyle/>
          <a:p>
            <a:pPr algn="ctr">
              <a:lnSpc>
                <a:spcPts val="2659"/>
              </a:lnSpc>
              <a:spcBef>
                <a:spcPct val="0"/>
              </a:spcBef>
            </a:pPr>
            <a:r>
              <a:rPr lang="en-US" sz="1899" dirty="0">
                <a:solidFill>
                  <a:srgbClr val="000000"/>
                </a:solidFill>
                <a:latin typeface="Canva Sans"/>
                <a:ea typeface="Canva Sans"/>
                <a:cs typeface="Canva Sans"/>
                <a:sym typeface="Canva Sans"/>
              </a:rPr>
              <a:t>Model Evaluation</a:t>
            </a:r>
          </a:p>
        </p:txBody>
      </p:sp>
      <p:sp>
        <p:nvSpPr>
          <p:cNvPr id="14" name="TextBox 14"/>
          <p:cNvSpPr txBox="1"/>
          <p:nvPr/>
        </p:nvSpPr>
        <p:spPr>
          <a:xfrm>
            <a:off x="7711119" y="2091933"/>
            <a:ext cx="1804095" cy="323215"/>
          </a:xfrm>
          <a:prstGeom prst="rect">
            <a:avLst/>
          </a:prstGeom>
        </p:spPr>
        <p:txBody>
          <a:bodyPr lIns="0" tIns="0" rIns="0" bIns="0" rtlCol="0" anchor="t">
            <a:spAutoFit/>
          </a:bodyPr>
          <a:lstStyle/>
          <a:p>
            <a:pPr algn="ctr">
              <a:lnSpc>
                <a:spcPts val="2659"/>
              </a:lnSpc>
              <a:spcBef>
                <a:spcPct val="0"/>
              </a:spcBef>
            </a:pPr>
            <a:r>
              <a:rPr lang="en-US" sz="1899">
                <a:solidFill>
                  <a:srgbClr val="000000"/>
                </a:solidFill>
                <a:latin typeface="Canva Sans"/>
                <a:ea typeface="Canva Sans"/>
                <a:cs typeface="Canva Sans"/>
                <a:sym typeface="Canva Sans"/>
              </a:rPr>
              <a:t>Data Collection</a:t>
            </a:r>
          </a:p>
        </p:txBody>
      </p:sp>
      <p:sp>
        <p:nvSpPr>
          <p:cNvPr id="15" name="TextBox 15"/>
          <p:cNvSpPr txBox="1"/>
          <p:nvPr/>
        </p:nvSpPr>
        <p:spPr>
          <a:xfrm rot="17695">
            <a:off x="11250693" y="4211216"/>
            <a:ext cx="2362051" cy="322589"/>
          </a:xfrm>
          <a:prstGeom prst="rect">
            <a:avLst/>
          </a:prstGeom>
        </p:spPr>
        <p:txBody>
          <a:bodyPr lIns="0" tIns="0" rIns="0" bIns="0" rtlCol="0" anchor="t">
            <a:spAutoFit/>
          </a:bodyPr>
          <a:lstStyle/>
          <a:p>
            <a:pPr algn="ctr">
              <a:lnSpc>
                <a:spcPts val="2659"/>
              </a:lnSpc>
              <a:spcBef>
                <a:spcPct val="0"/>
              </a:spcBef>
            </a:pPr>
            <a:r>
              <a:rPr lang="en-US" sz="1899" dirty="0">
                <a:solidFill>
                  <a:srgbClr val="000000"/>
                </a:solidFill>
                <a:latin typeface="Canva Sans"/>
                <a:ea typeface="Canva Sans"/>
                <a:cs typeface="Canva Sans"/>
                <a:sym typeface="Canva Sans"/>
              </a:rPr>
              <a:t>Data pre-processing</a:t>
            </a:r>
          </a:p>
        </p:txBody>
      </p:sp>
      <p:sp>
        <p:nvSpPr>
          <p:cNvPr id="16" name="TextBox 16"/>
          <p:cNvSpPr txBox="1"/>
          <p:nvPr/>
        </p:nvSpPr>
        <p:spPr>
          <a:xfrm>
            <a:off x="11531007" y="7665628"/>
            <a:ext cx="2082552" cy="322589"/>
          </a:xfrm>
          <a:prstGeom prst="rect">
            <a:avLst/>
          </a:prstGeom>
        </p:spPr>
        <p:txBody>
          <a:bodyPr lIns="0" tIns="0" rIns="0" bIns="0" rtlCol="0" anchor="t">
            <a:spAutoFit/>
          </a:bodyPr>
          <a:lstStyle/>
          <a:p>
            <a:pPr algn="ctr">
              <a:lnSpc>
                <a:spcPts val="2659"/>
              </a:lnSpc>
              <a:spcBef>
                <a:spcPct val="0"/>
              </a:spcBef>
            </a:pPr>
            <a:r>
              <a:rPr lang="en-US" sz="1899" dirty="0" err="1">
                <a:solidFill>
                  <a:srgbClr val="000000"/>
                </a:solidFill>
                <a:latin typeface="Canva Sans"/>
                <a:ea typeface="Canva Sans"/>
                <a:cs typeface="Canva Sans"/>
                <a:sym typeface="Canva Sans"/>
              </a:rPr>
              <a:t>DataVisualization</a:t>
            </a:r>
            <a:r>
              <a:rPr lang="en-US" sz="1899" dirty="0">
                <a:solidFill>
                  <a:srgbClr val="000000"/>
                </a:solidFill>
                <a:latin typeface="Canva Sans"/>
                <a:ea typeface="Canva Sans"/>
                <a:cs typeface="Canva Sans"/>
                <a:sym typeface="Canva Sans"/>
              </a:rPr>
              <a:t> </a:t>
            </a:r>
          </a:p>
        </p:txBody>
      </p:sp>
      <p:sp>
        <p:nvSpPr>
          <p:cNvPr id="17" name="TextBox 17"/>
          <p:cNvSpPr txBox="1"/>
          <p:nvPr/>
        </p:nvSpPr>
        <p:spPr>
          <a:xfrm>
            <a:off x="7856788" y="9899873"/>
            <a:ext cx="1882229" cy="323215"/>
          </a:xfrm>
          <a:prstGeom prst="rect">
            <a:avLst/>
          </a:prstGeom>
        </p:spPr>
        <p:txBody>
          <a:bodyPr lIns="0" tIns="0" rIns="0" bIns="0" rtlCol="0" anchor="t">
            <a:spAutoFit/>
          </a:bodyPr>
          <a:lstStyle/>
          <a:p>
            <a:pPr algn="ctr">
              <a:lnSpc>
                <a:spcPts val="2659"/>
              </a:lnSpc>
              <a:spcBef>
                <a:spcPct val="0"/>
              </a:spcBef>
            </a:pPr>
            <a:r>
              <a:rPr lang="en-US" sz="1899">
                <a:solidFill>
                  <a:srgbClr val="000000"/>
                </a:solidFill>
                <a:latin typeface="Canva Sans"/>
                <a:ea typeface="Canva Sans"/>
                <a:cs typeface="Canva Sans"/>
                <a:sym typeface="Canva Sans"/>
              </a:rPr>
              <a:t>Model Selection</a:t>
            </a:r>
          </a:p>
        </p:txBody>
      </p:sp>
      <p:sp>
        <p:nvSpPr>
          <p:cNvPr id="18" name="TextBox 18"/>
          <p:cNvSpPr txBox="1"/>
          <p:nvPr/>
        </p:nvSpPr>
        <p:spPr>
          <a:xfrm>
            <a:off x="4144735" y="4304304"/>
            <a:ext cx="1442145" cy="323215"/>
          </a:xfrm>
          <a:prstGeom prst="rect">
            <a:avLst/>
          </a:prstGeom>
        </p:spPr>
        <p:txBody>
          <a:bodyPr lIns="0" tIns="0" rIns="0" bIns="0" rtlCol="0" anchor="t">
            <a:spAutoFit/>
          </a:bodyPr>
          <a:lstStyle/>
          <a:p>
            <a:pPr algn="ctr">
              <a:lnSpc>
                <a:spcPts val="2659"/>
              </a:lnSpc>
              <a:spcBef>
                <a:spcPct val="0"/>
              </a:spcBef>
            </a:pPr>
            <a:r>
              <a:rPr lang="en-US" sz="1899">
                <a:solidFill>
                  <a:srgbClr val="000000"/>
                </a:solidFill>
                <a:latin typeface="Canva Sans"/>
                <a:ea typeface="Canva Sans"/>
                <a:cs typeface="Canva Sans"/>
                <a:sym typeface="Canva Sans"/>
              </a:rPr>
              <a:t>Deployment</a:t>
            </a:r>
          </a:p>
        </p:txBody>
      </p:sp>
      <p:sp>
        <p:nvSpPr>
          <p:cNvPr id="19" name="TextBox 19"/>
          <p:cNvSpPr txBox="1"/>
          <p:nvPr/>
        </p:nvSpPr>
        <p:spPr>
          <a:xfrm>
            <a:off x="7301773" y="4256679"/>
            <a:ext cx="3046499" cy="1714740"/>
          </a:xfrm>
          <a:prstGeom prst="rect">
            <a:avLst/>
          </a:prstGeom>
        </p:spPr>
        <p:txBody>
          <a:bodyPr wrap="square" lIns="0" tIns="0" rIns="0" bIns="0" rtlCol="0" anchor="t">
            <a:spAutoFit/>
          </a:bodyPr>
          <a:lstStyle/>
          <a:p>
            <a:pPr algn="ctr">
              <a:lnSpc>
                <a:spcPts val="6798"/>
              </a:lnSpc>
            </a:pPr>
            <a:r>
              <a:rPr lang="en-US" sz="4855" b="1" dirty="0">
                <a:solidFill>
                  <a:srgbClr val="000000"/>
                </a:solidFill>
                <a:latin typeface="Canva Sans Bold"/>
                <a:ea typeface="Canva Sans Bold"/>
                <a:cs typeface="Canva Sans Bold"/>
                <a:sym typeface="Canva Sans Bold"/>
              </a:rPr>
              <a:t>Big Data</a:t>
            </a:r>
          </a:p>
          <a:p>
            <a:pPr algn="ctr">
              <a:lnSpc>
                <a:spcPts val="6798"/>
              </a:lnSpc>
            </a:pPr>
            <a:r>
              <a:rPr lang="en-US" sz="4855" b="1" dirty="0">
                <a:solidFill>
                  <a:srgbClr val="000000"/>
                </a:solidFill>
                <a:latin typeface="Canva Sans Bold"/>
                <a:ea typeface="Canva Sans Bold"/>
                <a:cs typeface="Canva Sans Bold"/>
                <a:sym typeface="Canva Sans Bold"/>
              </a:rPr>
              <a:t>Analytics</a:t>
            </a:r>
          </a:p>
        </p:txBody>
      </p:sp>
      <p:sp>
        <p:nvSpPr>
          <p:cNvPr id="20" name="AutoShape 20"/>
          <p:cNvSpPr/>
          <p:nvPr/>
        </p:nvSpPr>
        <p:spPr>
          <a:xfrm>
            <a:off x="9701803" y="1079725"/>
            <a:ext cx="2607764" cy="1080723"/>
          </a:xfrm>
          <a:prstGeom prst="line">
            <a:avLst/>
          </a:prstGeom>
          <a:ln w="38100" cap="flat">
            <a:solidFill>
              <a:srgbClr val="000000"/>
            </a:solidFill>
            <a:prstDash val="solid"/>
            <a:headEnd type="none" w="sm" len="sm"/>
            <a:tailEnd type="arrow" w="med" len="sm"/>
          </a:ln>
        </p:spPr>
      </p:sp>
      <p:sp>
        <p:nvSpPr>
          <p:cNvPr id="21" name="AutoShape 21"/>
          <p:cNvSpPr/>
          <p:nvPr/>
        </p:nvSpPr>
        <p:spPr>
          <a:xfrm flipV="1">
            <a:off x="4969179" y="1079725"/>
            <a:ext cx="2635156" cy="1080723"/>
          </a:xfrm>
          <a:prstGeom prst="line">
            <a:avLst/>
          </a:prstGeom>
          <a:ln w="38100" cap="flat">
            <a:solidFill>
              <a:srgbClr val="000000"/>
            </a:solidFill>
            <a:prstDash val="solid"/>
            <a:headEnd type="none" w="sm" len="sm"/>
            <a:tailEnd type="arrow" w="med" len="sm"/>
          </a:ln>
        </p:spPr>
      </p:sp>
      <p:sp>
        <p:nvSpPr>
          <p:cNvPr id="22" name="AutoShape 22"/>
          <p:cNvSpPr/>
          <p:nvPr/>
        </p:nvSpPr>
        <p:spPr>
          <a:xfrm flipV="1">
            <a:off x="4865807" y="4627519"/>
            <a:ext cx="0" cy="893630"/>
          </a:xfrm>
          <a:prstGeom prst="line">
            <a:avLst/>
          </a:prstGeom>
          <a:ln w="38100" cap="flat">
            <a:solidFill>
              <a:srgbClr val="000000"/>
            </a:solidFill>
            <a:prstDash val="solid"/>
            <a:headEnd type="none" w="sm" len="sm"/>
            <a:tailEnd type="arrow" w="med" len="sm"/>
          </a:ln>
        </p:spPr>
      </p:sp>
      <p:sp>
        <p:nvSpPr>
          <p:cNvPr id="23" name="AutoShape 23"/>
          <p:cNvSpPr/>
          <p:nvPr/>
        </p:nvSpPr>
        <p:spPr>
          <a:xfrm flipH="1">
            <a:off x="10056833" y="8140071"/>
            <a:ext cx="2546054" cy="983219"/>
          </a:xfrm>
          <a:prstGeom prst="line">
            <a:avLst/>
          </a:prstGeom>
          <a:ln w="38100" cap="flat">
            <a:solidFill>
              <a:srgbClr val="000000"/>
            </a:solidFill>
            <a:prstDash val="solid"/>
            <a:headEnd type="none" w="sm" len="sm"/>
            <a:tailEnd type="arrow" w="med" len="sm"/>
          </a:ln>
        </p:spPr>
      </p:sp>
      <p:sp>
        <p:nvSpPr>
          <p:cNvPr id="24" name="AutoShape 24"/>
          <p:cNvSpPr/>
          <p:nvPr/>
        </p:nvSpPr>
        <p:spPr>
          <a:xfrm flipH="1" flipV="1">
            <a:off x="4846720" y="8088502"/>
            <a:ext cx="2703998" cy="983219"/>
          </a:xfrm>
          <a:prstGeom prst="line">
            <a:avLst/>
          </a:prstGeom>
          <a:ln w="38100" cap="flat">
            <a:solidFill>
              <a:srgbClr val="000000"/>
            </a:solidFill>
            <a:prstDash val="solid"/>
            <a:headEnd type="none" w="sm" len="sm"/>
            <a:tailEnd type="arrow" w="med" len="sm"/>
          </a:ln>
        </p:spPr>
      </p:sp>
      <p:sp>
        <p:nvSpPr>
          <p:cNvPr id="25" name="AutoShape 25"/>
          <p:cNvSpPr/>
          <p:nvPr/>
        </p:nvSpPr>
        <p:spPr>
          <a:xfrm>
            <a:off x="12529700" y="4628330"/>
            <a:ext cx="19569" cy="1020133"/>
          </a:xfrm>
          <a:prstGeom prst="line">
            <a:avLst/>
          </a:prstGeom>
          <a:ln w="38100" cap="flat">
            <a:solidFill>
              <a:srgbClr val="000000"/>
            </a:solidFill>
            <a:prstDash val="solid"/>
            <a:headEnd type="none" w="sm" len="sm"/>
            <a:tailEnd type="arrow" w="med" len="sm"/>
          </a:ln>
        </p:spPr>
      </p:sp>
      <p:grpSp>
        <p:nvGrpSpPr>
          <p:cNvPr id="26" name="Group 26"/>
          <p:cNvGrpSpPr/>
          <p:nvPr/>
        </p:nvGrpSpPr>
        <p:grpSpPr>
          <a:xfrm>
            <a:off x="12926461" y="471285"/>
            <a:ext cx="5924832" cy="2692933"/>
            <a:chOff x="0" y="0"/>
            <a:chExt cx="7899776" cy="3590577"/>
          </a:xfrm>
        </p:grpSpPr>
        <p:sp>
          <p:nvSpPr>
            <p:cNvPr id="27" name="TextBox 27"/>
            <p:cNvSpPr txBox="1"/>
            <p:nvPr/>
          </p:nvSpPr>
          <p:spPr>
            <a:xfrm rot="-628439">
              <a:off x="161870" y="1171798"/>
              <a:ext cx="7643565" cy="1738503"/>
            </a:xfrm>
            <a:prstGeom prst="rect">
              <a:avLst/>
            </a:prstGeom>
          </p:spPr>
          <p:txBody>
            <a:bodyPr lIns="0" tIns="0" rIns="0" bIns="0" rtlCol="0" anchor="t">
              <a:spAutoFit/>
            </a:bodyPr>
            <a:lstStyle/>
            <a:p>
              <a:pPr algn="ctr">
                <a:lnSpc>
                  <a:spcPts val="8572"/>
                </a:lnSpc>
              </a:pPr>
              <a:r>
                <a:rPr lang="en-US" sz="10454" b="1" i="1" spc="-209">
                  <a:solidFill>
                    <a:srgbClr val="000000"/>
                  </a:solidFill>
                  <a:latin typeface="TT Bluescreens Bold Italics"/>
                  <a:ea typeface="TT Bluescreens Bold Italics"/>
                  <a:cs typeface="TT Bluescreens Bold Italics"/>
                  <a:sym typeface="TT Bluescreens Bold Italics"/>
                </a:rPr>
                <a:t>MODULES</a:t>
              </a:r>
            </a:p>
          </p:txBody>
        </p:sp>
        <p:sp>
          <p:nvSpPr>
            <p:cNvPr id="28" name="TextBox 28"/>
            <p:cNvSpPr txBox="1"/>
            <p:nvPr/>
          </p:nvSpPr>
          <p:spPr>
            <a:xfrm rot="-628439">
              <a:off x="1187635" y="388313"/>
              <a:ext cx="5154732" cy="635524"/>
            </a:xfrm>
            <a:prstGeom prst="rect">
              <a:avLst/>
            </a:prstGeom>
          </p:spPr>
          <p:txBody>
            <a:bodyPr lIns="0" tIns="0" rIns="0" bIns="0" rtlCol="0" anchor="t">
              <a:spAutoFit/>
            </a:bodyPr>
            <a:lstStyle/>
            <a:p>
              <a:pPr algn="ctr">
                <a:lnSpc>
                  <a:spcPts val="3945"/>
                </a:lnSpc>
              </a:pPr>
              <a:r>
                <a:rPr lang="en-US" sz="2817" i="1" spc="-56">
                  <a:solidFill>
                    <a:srgbClr val="000000"/>
                  </a:solidFill>
                  <a:latin typeface="Rodeqa Slab Italics"/>
                  <a:ea typeface="Rodeqa Slab Italics"/>
                  <a:cs typeface="Rodeqa Slab Italics"/>
                  <a:sym typeface="Rodeqa Slab Italics"/>
                </a:rPr>
                <a:t>Project</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4F6EC"/>
        </a:solidFill>
        <a:effectLst/>
      </p:bgPr>
    </p:bg>
    <p:spTree>
      <p:nvGrpSpPr>
        <p:cNvPr id="1" name=""/>
        <p:cNvGrpSpPr/>
        <p:nvPr/>
      </p:nvGrpSpPr>
      <p:grpSpPr>
        <a:xfrm>
          <a:off x="0" y="0"/>
          <a:ext cx="0" cy="0"/>
          <a:chOff x="0" y="0"/>
          <a:chExt cx="0" cy="0"/>
        </a:xfrm>
      </p:grpSpPr>
      <p:grpSp>
        <p:nvGrpSpPr>
          <p:cNvPr id="2" name="Group 2"/>
          <p:cNvGrpSpPr/>
          <p:nvPr/>
        </p:nvGrpSpPr>
        <p:grpSpPr>
          <a:xfrm>
            <a:off x="6497251" y="4028229"/>
            <a:ext cx="5293498" cy="4944885"/>
            <a:chOff x="0" y="0"/>
            <a:chExt cx="1394172" cy="1302357"/>
          </a:xfrm>
        </p:grpSpPr>
        <p:sp>
          <p:nvSpPr>
            <p:cNvPr id="3" name="Freeform 3"/>
            <p:cNvSpPr/>
            <p:nvPr/>
          </p:nvSpPr>
          <p:spPr>
            <a:xfrm>
              <a:off x="0" y="0"/>
              <a:ext cx="1394172" cy="1302357"/>
            </a:xfrm>
            <a:custGeom>
              <a:avLst/>
              <a:gdLst/>
              <a:ahLst/>
              <a:cxnLst/>
              <a:rect l="l" t="t" r="r" b="b"/>
              <a:pathLst>
                <a:path w="1394172" h="1302357">
                  <a:moveTo>
                    <a:pt x="11700" y="0"/>
                  </a:moveTo>
                  <a:lnTo>
                    <a:pt x="1382472" y="0"/>
                  </a:lnTo>
                  <a:cubicBezTo>
                    <a:pt x="1388934" y="0"/>
                    <a:pt x="1394172" y="5238"/>
                    <a:pt x="1394172" y="11700"/>
                  </a:cubicBezTo>
                  <a:lnTo>
                    <a:pt x="1394172" y="1290656"/>
                  </a:lnTo>
                  <a:cubicBezTo>
                    <a:pt x="1394172" y="1297118"/>
                    <a:pt x="1388934" y="1302357"/>
                    <a:pt x="1382472" y="1302357"/>
                  </a:cubicBezTo>
                  <a:lnTo>
                    <a:pt x="11700" y="1302357"/>
                  </a:lnTo>
                  <a:cubicBezTo>
                    <a:pt x="5238" y="1302357"/>
                    <a:pt x="0" y="1297118"/>
                    <a:pt x="0" y="1290656"/>
                  </a:cubicBezTo>
                  <a:lnTo>
                    <a:pt x="0" y="11700"/>
                  </a:lnTo>
                  <a:cubicBezTo>
                    <a:pt x="0" y="5238"/>
                    <a:pt x="5238" y="0"/>
                    <a:pt x="11700" y="0"/>
                  </a:cubicBezTo>
                  <a:close/>
                </a:path>
              </a:pathLst>
            </a:custGeom>
            <a:solidFill>
              <a:srgbClr val="A9DFD0"/>
            </a:solidFill>
          </p:spPr>
        </p:sp>
        <p:sp>
          <p:nvSpPr>
            <p:cNvPr id="4" name="TextBox 4"/>
            <p:cNvSpPr txBox="1"/>
            <p:nvPr/>
          </p:nvSpPr>
          <p:spPr>
            <a:xfrm>
              <a:off x="0" y="-38100"/>
              <a:ext cx="1394172" cy="1340457"/>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1966236" y="542141"/>
            <a:ext cx="13856669" cy="1249343"/>
          </a:xfrm>
          <a:prstGeom prst="rect">
            <a:avLst/>
          </a:prstGeom>
        </p:spPr>
        <p:txBody>
          <a:bodyPr lIns="0" tIns="0" rIns="0" bIns="0" rtlCol="0" anchor="t">
            <a:spAutoFit/>
          </a:bodyPr>
          <a:lstStyle/>
          <a:p>
            <a:pPr marL="0" lvl="1" indent="0" algn="ctr">
              <a:lnSpc>
                <a:spcPts val="9037"/>
              </a:lnSpc>
            </a:pPr>
            <a:r>
              <a:rPr lang="en-US" sz="10041" b="1" spc="-461">
                <a:solidFill>
                  <a:srgbClr val="00694C"/>
                </a:solidFill>
                <a:latin typeface="Raleway Medium"/>
                <a:ea typeface="Raleway Medium"/>
                <a:cs typeface="Raleway Medium"/>
                <a:sym typeface="Raleway Medium"/>
              </a:rPr>
              <a:t>DATA COLLECTION</a:t>
            </a:r>
          </a:p>
        </p:txBody>
      </p:sp>
      <p:grpSp>
        <p:nvGrpSpPr>
          <p:cNvPr id="6" name="Group 6"/>
          <p:cNvGrpSpPr/>
          <p:nvPr/>
        </p:nvGrpSpPr>
        <p:grpSpPr>
          <a:xfrm>
            <a:off x="1032304" y="4028229"/>
            <a:ext cx="5293498" cy="4944885"/>
            <a:chOff x="0" y="0"/>
            <a:chExt cx="1394172" cy="1302357"/>
          </a:xfrm>
        </p:grpSpPr>
        <p:sp>
          <p:nvSpPr>
            <p:cNvPr id="7" name="Freeform 7"/>
            <p:cNvSpPr/>
            <p:nvPr/>
          </p:nvSpPr>
          <p:spPr>
            <a:xfrm>
              <a:off x="0" y="0"/>
              <a:ext cx="1394172" cy="1302357"/>
            </a:xfrm>
            <a:custGeom>
              <a:avLst/>
              <a:gdLst/>
              <a:ahLst/>
              <a:cxnLst/>
              <a:rect l="l" t="t" r="r" b="b"/>
              <a:pathLst>
                <a:path w="1394172" h="1302357">
                  <a:moveTo>
                    <a:pt x="11700" y="0"/>
                  </a:moveTo>
                  <a:lnTo>
                    <a:pt x="1382472" y="0"/>
                  </a:lnTo>
                  <a:cubicBezTo>
                    <a:pt x="1388934" y="0"/>
                    <a:pt x="1394172" y="5238"/>
                    <a:pt x="1394172" y="11700"/>
                  </a:cubicBezTo>
                  <a:lnTo>
                    <a:pt x="1394172" y="1290656"/>
                  </a:lnTo>
                  <a:cubicBezTo>
                    <a:pt x="1394172" y="1297118"/>
                    <a:pt x="1388934" y="1302357"/>
                    <a:pt x="1382472" y="1302357"/>
                  </a:cubicBezTo>
                  <a:lnTo>
                    <a:pt x="11700" y="1302357"/>
                  </a:lnTo>
                  <a:cubicBezTo>
                    <a:pt x="5238" y="1302357"/>
                    <a:pt x="0" y="1297118"/>
                    <a:pt x="0" y="1290656"/>
                  </a:cubicBezTo>
                  <a:lnTo>
                    <a:pt x="0" y="11700"/>
                  </a:lnTo>
                  <a:cubicBezTo>
                    <a:pt x="0" y="5238"/>
                    <a:pt x="5238" y="0"/>
                    <a:pt x="11700" y="0"/>
                  </a:cubicBezTo>
                  <a:close/>
                </a:path>
              </a:pathLst>
            </a:custGeom>
            <a:solidFill>
              <a:srgbClr val="A9DFD0"/>
            </a:solidFill>
          </p:spPr>
        </p:sp>
        <p:sp>
          <p:nvSpPr>
            <p:cNvPr id="8" name="TextBox 8"/>
            <p:cNvSpPr txBox="1"/>
            <p:nvPr/>
          </p:nvSpPr>
          <p:spPr>
            <a:xfrm>
              <a:off x="0" y="-38100"/>
              <a:ext cx="1394172" cy="1340457"/>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11965802" y="4028229"/>
            <a:ext cx="5293498" cy="4944885"/>
            <a:chOff x="0" y="0"/>
            <a:chExt cx="1394172" cy="1302357"/>
          </a:xfrm>
        </p:grpSpPr>
        <p:sp>
          <p:nvSpPr>
            <p:cNvPr id="10" name="Freeform 10"/>
            <p:cNvSpPr/>
            <p:nvPr/>
          </p:nvSpPr>
          <p:spPr>
            <a:xfrm>
              <a:off x="0" y="0"/>
              <a:ext cx="1394172" cy="1302357"/>
            </a:xfrm>
            <a:custGeom>
              <a:avLst/>
              <a:gdLst/>
              <a:ahLst/>
              <a:cxnLst/>
              <a:rect l="l" t="t" r="r" b="b"/>
              <a:pathLst>
                <a:path w="1394172" h="1302357">
                  <a:moveTo>
                    <a:pt x="11700" y="0"/>
                  </a:moveTo>
                  <a:lnTo>
                    <a:pt x="1382472" y="0"/>
                  </a:lnTo>
                  <a:cubicBezTo>
                    <a:pt x="1388934" y="0"/>
                    <a:pt x="1394172" y="5238"/>
                    <a:pt x="1394172" y="11700"/>
                  </a:cubicBezTo>
                  <a:lnTo>
                    <a:pt x="1394172" y="1290656"/>
                  </a:lnTo>
                  <a:cubicBezTo>
                    <a:pt x="1394172" y="1297118"/>
                    <a:pt x="1388934" y="1302357"/>
                    <a:pt x="1382472" y="1302357"/>
                  </a:cubicBezTo>
                  <a:lnTo>
                    <a:pt x="11700" y="1302357"/>
                  </a:lnTo>
                  <a:cubicBezTo>
                    <a:pt x="5238" y="1302357"/>
                    <a:pt x="0" y="1297118"/>
                    <a:pt x="0" y="1290656"/>
                  </a:cubicBezTo>
                  <a:lnTo>
                    <a:pt x="0" y="11700"/>
                  </a:lnTo>
                  <a:cubicBezTo>
                    <a:pt x="0" y="5238"/>
                    <a:pt x="5238" y="0"/>
                    <a:pt x="11700" y="0"/>
                  </a:cubicBezTo>
                  <a:close/>
                </a:path>
              </a:pathLst>
            </a:custGeom>
            <a:solidFill>
              <a:srgbClr val="A9DFD0"/>
            </a:solidFill>
          </p:spPr>
        </p:sp>
        <p:sp>
          <p:nvSpPr>
            <p:cNvPr id="11" name="TextBox 11"/>
            <p:cNvSpPr txBox="1"/>
            <p:nvPr/>
          </p:nvSpPr>
          <p:spPr>
            <a:xfrm>
              <a:off x="0" y="-38100"/>
              <a:ext cx="1394172" cy="1340457"/>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2465094" y="4475904"/>
            <a:ext cx="2420710" cy="1495425"/>
          </a:xfrm>
          <a:prstGeom prst="rect">
            <a:avLst/>
          </a:prstGeom>
        </p:spPr>
        <p:txBody>
          <a:bodyPr lIns="0" tIns="0" rIns="0" bIns="0" rtlCol="0" anchor="t">
            <a:spAutoFit/>
          </a:bodyPr>
          <a:lstStyle/>
          <a:p>
            <a:pPr marL="0" lvl="1" indent="0" algn="ctr">
              <a:lnSpc>
                <a:spcPts val="10800"/>
              </a:lnSpc>
            </a:pPr>
            <a:r>
              <a:rPr lang="en-US" sz="12000" b="1" spc="-552">
                <a:solidFill>
                  <a:srgbClr val="00694C"/>
                </a:solidFill>
                <a:latin typeface="Raleway Medium"/>
                <a:ea typeface="Raleway Medium"/>
                <a:cs typeface="Raleway Medium"/>
                <a:sym typeface="Raleway Medium"/>
              </a:rPr>
              <a:t>01.</a:t>
            </a:r>
          </a:p>
        </p:txBody>
      </p:sp>
      <p:sp>
        <p:nvSpPr>
          <p:cNvPr id="13" name="TextBox 13"/>
          <p:cNvSpPr txBox="1"/>
          <p:nvPr/>
        </p:nvSpPr>
        <p:spPr>
          <a:xfrm>
            <a:off x="7933645" y="4475904"/>
            <a:ext cx="2420710" cy="1495425"/>
          </a:xfrm>
          <a:prstGeom prst="rect">
            <a:avLst/>
          </a:prstGeom>
        </p:spPr>
        <p:txBody>
          <a:bodyPr lIns="0" tIns="0" rIns="0" bIns="0" rtlCol="0" anchor="t">
            <a:spAutoFit/>
          </a:bodyPr>
          <a:lstStyle/>
          <a:p>
            <a:pPr marL="0" lvl="1" indent="0" algn="ctr">
              <a:lnSpc>
                <a:spcPts val="10800"/>
              </a:lnSpc>
            </a:pPr>
            <a:r>
              <a:rPr lang="en-US" sz="12000" b="1" spc="-552">
                <a:solidFill>
                  <a:srgbClr val="00694C"/>
                </a:solidFill>
                <a:latin typeface="Raleway Medium"/>
                <a:ea typeface="Raleway Medium"/>
                <a:cs typeface="Raleway Medium"/>
                <a:sym typeface="Raleway Medium"/>
              </a:rPr>
              <a:t>02.</a:t>
            </a:r>
          </a:p>
        </p:txBody>
      </p:sp>
      <p:sp>
        <p:nvSpPr>
          <p:cNvPr id="14" name="TextBox 14"/>
          <p:cNvSpPr txBox="1"/>
          <p:nvPr/>
        </p:nvSpPr>
        <p:spPr>
          <a:xfrm>
            <a:off x="13402196" y="4475904"/>
            <a:ext cx="2420710" cy="1495425"/>
          </a:xfrm>
          <a:prstGeom prst="rect">
            <a:avLst/>
          </a:prstGeom>
        </p:spPr>
        <p:txBody>
          <a:bodyPr lIns="0" tIns="0" rIns="0" bIns="0" rtlCol="0" anchor="t">
            <a:spAutoFit/>
          </a:bodyPr>
          <a:lstStyle/>
          <a:p>
            <a:pPr marL="0" lvl="1" indent="0" algn="ctr">
              <a:lnSpc>
                <a:spcPts val="10800"/>
              </a:lnSpc>
            </a:pPr>
            <a:r>
              <a:rPr lang="en-US" sz="12000" b="1" spc="-552">
                <a:solidFill>
                  <a:srgbClr val="00694C"/>
                </a:solidFill>
                <a:latin typeface="Raleway Medium"/>
                <a:ea typeface="Raleway Medium"/>
                <a:cs typeface="Raleway Medium"/>
                <a:sym typeface="Raleway Medium"/>
              </a:rPr>
              <a:t>03.</a:t>
            </a:r>
          </a:p>
        </p:txBody>
      </p:sp>
      <p:sp>
        <p:nvSpPr>
          <p:cNvPr id="15" name="TextBox 15"/>
          <p:cNvSpPr txBox="1"/>
          <p:nvPr/>
        </p:nvSpPr>
        <p:spPr>
          <a:xfrm>
            <a:off x="1797019" y="6629488"/>
            <a:ext cx="4095146" cy="2150745"/>
          </a:xfrm>
          <a:prstGeom prst="rect">
            <a:avLst/>
          </a:prstGeom>
        </p:spPr>
        <p:txBody>
          <a:bodyPr lIns="0" tIns="0" rIns="0" bIns="0" rtlCol="0" anchor="t">
            <a:spAutoFit/>
          </a:bodyPr>
          <a:lstStyle/>
          <a:p>
            <a:pPr algn="just">
              <a:lnSpc>
                <a:spcPts val="2430"/>
              </a:lnSpc>
            </a:pPr>
            <a:r>
              <a:rPr lang="en-US" sz="1800" b="1" spc="-37">
                <a:solidFill>
                  <a:srgbClr val="00694C"/>
                </a:solidFill>
                <a:latin typeface="Raleway Semi-Bold"/>
                <a:ea typeface="Raleway Semi-Bold"/>
                <a:cs typeface="Raleway Semi-Bold"/>
                <a:sym typeface="Raleway Semi-Bold"/>
              </a:rPr>
              <a:t>We have collected data from government websites and international organization websites like </a:t>
            </a:r>
          </a:p>
          <a:p>
            <a:pPr marL="388623" lvl="1" indent="-194312" algn="just">
              <a:lnSpc>
                <a:spcPts val="2430"/>
              </a:lnSpc>
              <a:buFont typeface="Arial"/>
              <a:buChar char="•"/>
            </a:pPr>
            <a:r>
              <a:rPr lang="en-US" sz="1800" b="1" spc="-37">
                <a:solidFill>
                  <a:srgbClr val="00694C"/>
                </a:solidFill>
                <a:latin typeface="Raleway Semi-Bold"/>
                <a:ea typeface="Raleway Semi-Bold"/>
                <a:cs typeface="Raleway Semi-Bold"/>
                <a:sym typeface="Raleway Semi-Bold"/>
              </a:rPr>
              <a:t>data.gov</a:t>
            </a:r>
          </a:p>
          <a:p>
            <a:pPr marL="388623" lvl="1" indent="-194312" algn="just">
              <a:lnSpc>
                <a:spcPts val="2430"/>
              </a:lnSpc>
              <a:buFont typeface="Arial"/>
              <a:buChar char="•"/>
            </a:pPr>
            <a:r>
              <a:rPr lang="en-US" sz="1800" b="1" spc="-37">
                <a:solidFill>
                  <a:srgbClr val="00694C"/>
                </a:solidFill>
                <a:latin typeface="Raleway Semi-Bold"/>
                <a:ea typeface="Raleway Semi-Bold"/>
                <a:cs typeface="Raleway Semi-Bold"/>
                <a:sym typeface="Raleway Semi-Bold"/>
              </a:rPr>
              <a:t>who.int.</a:t>
            </a:r>
          </a:p>
          <a:p>
            <a:pPr algn="just">
              <a:lnSpc>
                <a:spcPts val="2520"/>
              </a:lnSpc>
            </a:pPr>
            <a:endParaRPr lang="en-US" sz="1800" b="1" spc="-37">
              <a:solidFill>
                <a:srgbClr val="00694C"/>
              </a:solidFill>
              <a:latin typeface="Raleway Semi-Bold"/>
              <a:ea typeface="Raleway Semi-Bold"/>
              <a:cs typeface="Raleway Semi-Bold"/>
              <a:sym typeface="Raleway Semi-Bold"/>
            </a:endParaRPr>
          </a:p>
          <a:p>
            <a:pPr algn="just">
              <a:lnSpc>
                <a:spcPts val="2520"/>
              </a:lnSpc>
              <a:spcBef>
                <a:spcPct val="0"/>
              </a:spcBef>
            </a:pPr>
            <a:endParaRPr lang="en-US" sz="1800" b="1" spc="-37">
              <a:solidFill>
                <a:srgbClr val="00694C"/>
              </a:solidFill>
              <a:latin typeface="Raleway Semi-Bold"/>
              <a:ea typeface="Raleway Semi-Bold"/>
              <a:cs typeface="Raleway Semi-Bold"/>
              <a:sym typeface="Raleway Semi-Bold"/>
            </a:endParaRPr>
          </a:p>
        </p:txBody>
      </p:sp>
      <p:sp>
        <p:nvSpPr>
          <p:cNvPr id="16" name="TextBox 16"/>
          <p:cNvSpPr txBox="1"/>
          <p:nvPr/>
        </p:nvSpPr>
        <p:spPr>
          <a:xfrm>
            <a:off x="7098229" y="6599008"/>
            <a:ext cx="4095146" cy="1887855"/>
          </a:xfrm>
          <a:prstGeom prst="rect">
            <a:avLst/>
          </a:prstGeom>
        </p:spPr>
        <p:txBody>
          <a:bodyPr lIns="0" tIns="0" rIns="0" bIns="0" rtlCol="0" anchor="t">
            <a:spAutoFit/>
          </a:bodyPr>
          <a:lstStyle/>
          <a:p>
            <a:pPr marL="388623" lvl="1" indent="-194312" algn="just">
              <a:lnSpc>
                <a:spcPts val="2520"/>
              </a:lnSpc>
              <a:buFont typeface="Arial"/>
              <a:buChar char="•"/>
            </a:pPr>
            <a:r>
              <a:rPr lang="en-US" sz="1800" b="1">
                <a:solidFill>
                  <a:srgbClr val="00694C"/>
                </a:solidFill>
                <a:latin typeface="Raleway Semi-Bold"/>
                <a:ea typeface="Raleway Semi-Bold"/>
                <a:cs typeface="Raleway Semi-Bold"/>
                <a:sym typeface="Raleway Semi-Bold"/>
              </a:rPr>
              <a:t>Size of the Dataset: 83,99,221 bytes</a:t>
            </a:r>
          </a:p>
          <a:p>
            <a:pPr marL="388623" lvl="1" indent="-194312" algn="just">
              <a:lnSpc>
                <a:spcPts val="2520"/>
              </a:lnSpc>
              <a:buFont typeface="Arial"/>
              <a:buChar char="•"/>
            </a:pPr>
            <a:r>
              <a:rPr lang="en-US" sz="1800" b="1">
                <a:solidFill>
                  <a:srgbClr val="00694C"/>
                </a:solidFill>
                <a:latin typeface="Raleway Semi-Bold"/>
                <a:ea typeface="Raleway Semi-Bold"/>
                <a:cs typeface="Raleway Semi-Bold"/>
                <a:sym typeface="Raleway Semi-Bold"/>
              </a:rPr>
              <a:t>pdf size : 100MB</a:t>
            </a:r>
          </a:p>
          <a:p>
            <a:pPr marL="388623" lvl="1" indent="-194312" algn="just">
              <a:lnSpc>
                <a:spcPts val="2520"/>
              </a:lnSpc>
              <a:buFont typeface="Arial"/>
              <a:buChar char="•"/>
            </a:pPr>
            <a:r>
              <a:rPr lang="en-US" sz="1800" b="1">
                <a:solidFill>
                  <a:srgbClr val="00694C"/>
                </a:solidFill>
                <a:latin typeface="Raleway Semi-Bold"/>
                <a:ea typeface="Raleway Semi-Bold"/>
                <a:cs typeface="Raleway Semi-Bold"/>
                <a:sym typeface="Raleway Semi-Bold"/>
              </a:rPr>
              <a:t>Total Records: 55,500</a:t>
            </a:r>
          </a:p>
          <a:p>
            <a:pPr marL="388623" lvl="1" indent="-194312" algn="just">
              <a:lnSpc>
                <a:spcPts val="2520"/>
              </a:lnSpc>
              <a:buFont typeface="Arial"/>
              <a:buChar char="•"/>
            </a:pPr>
            <a:r>
              <a:rPr lang="en-US" sz="1800" b="1">
                <a:solidFill>
                  <a:srgbClr val="00694C"/>
                </a:solidFill>
                <a:latin typeface="Raleway Semi-Bold"/>
                <a:ea typeface="Raleway Semi-Bold"/>
                <a:cs typeface="Raleway Semi-Bold"/>
                <a:sym typeface="Raleway Semi-Bold"/>
              </a:rPr>
              <a:t>Total Fields: 15</a:t>
            </a:r>
          </a:p>
          <a:p>
            <a:pPr marL="388623" lvl="1" indent="-194312" algn="just">
              <a:lnSpc>
                <a:spcPts val="2520"/>
              </a:lnSpc>
              <a:buFont typeface="Arial"/>
              <a:buChar char="•"/>
            </a:pPr>
            <a:r>
              <a:rPr lang="en-US" sz="1800" b="1">
                <a:solidFill>
                  <a:srgbClr val="00694C"/>
                </a:solidFill>
                <a:latin typeface="Raleway Semi-Bold"/>
                <a:ea typeface="Raleway Semi-Bold"/>
                <a:cs typeface="Raleway Semi-Bold"/>
                <a:sym typeface="Raleway Semi-Bold"/>
              </a:rPr>
              <a:t>Type of Dataset: .csv file and pdf</a:t>
            </a:r>
          </a:p>
        </p:txBody>
      </p:sp>
      <p:sp>
        <p:nvSpPr>
          <p:cNvPr id="17" name="TextBox 17"/>
          <p:cNvSpPr txBox="1"/>
          <p:nvPr/>
        </p:nvSpPr>
        <p:spPr>
          <a:xfrm>
            <a:off x="12564978" y="6578053"/>
            <a:ext cx="4095146" cy="2202180"/>
          </a:xfrm>
          <a:prstGeom prst="rect">
            <a:avLst/>
          </a:prstGeom>
        </p:spPr>
        <p:txBody>
          <a:bodyPr lIns="0" tIns="0" rIns="0" bIns="0" rtlCol="0" anchor="t">
            <a:spAutoFit/>
          </a:bodyPr>
          <a:lstStyle/>
          <a:p>
            <a:pPr marL="388623" lvl="1" indent="-194312" algn="just">
              <a:lnSpc>
                <a:spcPts val="2520"/>
              </a:lnSpc>
              <a:buFont typeface="Arial"/>
              <a:buChar char="•"/>
            </a:pPr>
            <a:r>
              <a:rPr lang="en-US" sz="1800" b="1">
                <a:solidFill>
                  <a:srgbClr val="00694C"/>
                </a:solidFill>
                <a:latin typeface="Raleway Semi-Bold"/>
                <a:ea typeface="Raleway Semi-Bold"/>
                <a:cs typeface="Raleway Semi-Bold"/>
                <a:sym typeface="Raleway Semi-Bold"/>
              </a:rPr>
              <a:t>Name of the person</a:t>
            </a:r>
          </a:p>
          <a:p>
            <a:pPr marL="388623" lvl="1" indent="-194312" algn="just">
              <a:lnSpc>
                <a:spcPts val="2520"/>
              </a:lnSpc>
              <a:buFont typeface="Arial"/>
              <a:buChar char="•"/>
            </a:pPr>
            <a:r>
              <a:rPr lang="en-US" sz="1800" b="1">
                <a:solidFill>
                  <a:srgbClr val="00694C"/>
                </a:solidFill>
                <a:latin typeface="Raleway Semi-Bold"/>
                <a:ea typeface="Raleway Semi-Bold"/>
                <a:cs typeface="Raleway Semi-Bold"/>
                <a:sym typeface="Raleway Semi-Bold"/>
              </a:rPr>
              <a:t>Age</a:t>
            </a:r>
          </a:p>
          <a:p>
            <a:pPr marL="388623" lvl="1" indent="-194312" algn="just">
              <a:lnSpc>
                <a:spcPts val="2520"/>
              </a:lnSpc>
              <a:buFont typeface="Arial"/>
              <a:buChar char="•"/>
            </a:pPr>
            <a:r>
              <a:rPr lang="en-US" sz="1800" b="1">
                <a:solidFill>
                  <a:srgbClr val="00694C"/>
                </a:solidFill>
                <a:latin typeface="Raleway Semi-Bold"/>
                <a:ea typeface="Raleway Semi-Bold"/>
                <a:cs typeface="Raleway Semi-Bold"/>
                <a:sym typeface="Raleway Semi-Bold"/>
              </a:rPr>
              <a:t>Gender</a:t>
            </a:r>
          </a:p>
          <a:p>
            <a:pPr marL="388623" lvl="1" indent="-194312" algn="just">
              <a:lnSpc>
                <a:spcPts val="2520"/>
              </a:lnSpc>
              <a:buFont typeface="Arial"/>
              <a:buChar char="•"/>
            </a:pPr>
            <a:r>
              <a:rPr lang="en-US" sz="1800" b="1">
                <a:solidFill>
                  <a:srgbClr val="00694C"/>
                </a:solidFill>
                <a:latin typeface="Raleway Semi-Bold"/>
                <a:ea typeface="Raleway Semi-Bold"/>
                <a:cs typeface="Raleway Semi-Bold"/>
                <a:sym typeface="Raleway Semi-Bold"/>
              </a:rPr>
              <a:t>Blood group</a:t>
            </a:r>
          </a:p>
          <a:p>
            <a:pPr marL="388623" lvl="1" indent="-194312" algn="just">
              <a:lnSpc>
                <a:spcPts val="2520"/>
              </a:lnSpc>
              <a:buFont typeface="Arial"/>
              <a:buChar char="•"/>
            </a:pPr>
            <a:r>
              <a:rPr lang="en-US" sz="1800" b="1">
                <a:solidFill>
                  <a:srgbClr val="00694C"/>
                </a:solidFill>
                <a:latin typeface="Raleway Semi-Bold"/>
                <a:ea typeface="Raleway Semi-Bold"/>
                <a:cs typeface="Raleway Semi-Bold"/>
                <a:sym typeface="Raleway Semi-Bold"/>
              </a:rPr>
              <a:t>Medical Condition</a:t>
            </a:r>
          </a:p>
          <a:p>
            <a:pPr marL="388623" lvl="1" indent="-194312" algn="just">
              <a:lnSpc>
                <a:spcPts val="2520"/>
              </a:lnSpc>
              <a:buFont typeface="Arial"/>
              <a:buChar char="•"/>
            </a:pPr>
            <a:r>
              <a:rPr lang="en-US" sz="1800" b="1">
                <a:solidFill>
                  <a:srgbClr val="00694C"/>
                </a:solidFill>
                <a:latin typeface="Raleway Semi-Bold"/>
                <a:ea typeface="Raleway Semi-Bold"/>
                <a:cs typeface="Raleway Semi-Bold"/>
                <a:sym typeface="Raleway Semi-Bold"/>
              </a:rPr>
              <a:t>Date of Admission</a:t>
            </a:r>
          </a:p>
          <a:p>
            <a:pPr marL="388623" lvl="1" indent="-194312" algn="just">
              <a:lnSpc>
                <a:spcPts val="2520"/>
              </a:lnSpc>
              <a:buFont typeface="Arial"/>
              <a:buChar char="•"/>
            </a:pPr>
            <a:r>
              <a:rPr lang="en-US" sz="1800" b="1">
                <a:solidFill>
                  <a:srgbClr val="00694C"/>
                </a:solidFill>
                <a:latin typeface="Raleway Semi-Bold"/>
                <a:ea typeface="Raleway Semi-Bold"/>
                <a:cs typeface="Raleway Semi-Bold"/>
                <a:sym typeface="Raleway Semi-Bold"/>
              </a:rPr>
              <a:t>Discharge date</a:t>
            </a:r>
          </a:p>
        </p:txBody>
      </p:sp>
      <p:sp>
        <p:nvSpPr>
          <p:cNvPr id="18" name="TextBox 18"/>
          <p:cNvSpPr txBox="1"/>
          <p:nvPr/>
        </p:nvSpPr>
        <p:spPr>
          <a:xfrm>
            <a:off x="1627876" y="6057054"/>
            <a:ext cx="4095146" cy="416973"/>
          </a:xfrm>
          <a:prstGeom prst="rect">
            <a:avLst/>
          </a:prstGeom>
        </p:spPr>
        <p:txBody>
          <a:bodyPr lIns="0" tIns="0" rIns="0" bIns="0" rtlCol="0" anchor="t">
            <a:spAutoFit/>
          </a:bodyPr>
          <a:lstStyle/>
          <a:p>
            <a:pPr marL="0" lvl="1" indent="0" algn="ctr">
              <a:lnSpc>
                <a:spcPts val="2968"/>
              </a:lnSpc>
            </a:pPr>
            <a:r>
              <a:rPr lang="en-US" sz="3298" b="1" spc="-151">
                <a:solidFill>
                  <a:srgbClr val="00694C"/>
                </a:solidFill>
                <a:latin typeface="Raleway Medium"/>
                <a:ea typeface="Raleway Medium"/>
                <a:cs typeface="Raleway Medium"/>
                <a:sym typeface="Raleway Medium"/>
              </a:rPr>
              <a:t>Dataset Sources</a:t>
            </a:r>
          </a:p>
        </p:txBody>
      </p:sp>
      <p:sp>
        <p:nvSpPr>
          <p:cNvPr id="19" name="TextBox 19"/>
          <p:cNvSpPr txBox="1"/>
          <p:nvPr/>
        </p:nvSpPr>
        <p:spPr>
          <a:xfrm>
            <a:off x="7098229" y="6057054"/>
            <a:ext cx="4095146" cy="416973"/>
          </a:xfrm>
          <a:prstGeom prst="rect">
            <a:avLst/>
          </a:prstGeom>
        </p:spPr>
        <p:txBody>
          <a:bodyPr lIns="0" tIns="0" rIns="0" bIns="0" rtlCol="0" anchor="t">
            <a:spAutoFit/>
          </a:bodyPr>
          <a:lstStyle/>
          <a:p>
            <a:pPr marL="0" lvl="1" indent="0" algn="ctr">
              <a:lnSpc>
                <a:spcPts val="2968"/>
              </a:lnSpc>
            </a:pPr>
            <a:r>
              <a:rPr lang="en-US" sz="3298" b="1" spc="-151">
                <a:solidFill>
                  <a:srgbClr val="00694C"/>
                </a:solidFill>
                <a:latin typeface="Raleway Medium"/>
                <a:ea typeface="Raleway Medium"/>
                <a:cs typeface="Raleway Medium"/>
                <a:sym typeface="Raleway Medium"/>
              </a:rPr>
              <a:t>Properties of Dataset</a:t>
            </a:r>
          </a:p>
        </p:txBody>
      </p:sp>
      <p:sp>
        <p:nvSpPr>
          <p:cNvPr id="20" name="TextBox 20"/>
          <p:cNvSpPr txBox="1"/>
          <p:nvPr/>
        </p:nvSpPr>
        <p:spPr>
          <a:xfrm>
            <a:off x="12562274" y="6132880"/>
            <a:ext cx="4095146" cy="416973"/>
          </a:xfrm>
          <a:prstGeom prst="rect">
            <a:avLst/>
          </a:prstGeom>
        </p:spPr>
        <p:txBody>
          <a:bodyPr lIns="0" tIns="0" rIns="0" bIns="0" rtlCol="0" anchor="t">
            <a:spAutoFit/>
          </a:bodyPr>
          <a:lstStyle/>
          <a:p>
            <a:pPr marL="0" lvl="1" indent="0" algn="ctr">
              <a:lnSpc>
                <a:spcPts val="2968"/>
              </a:lnSpc>
            </a:pPr>
            <a:r>
              <a:rPr lang="en-US" sz="3298" b="1" spc="-151">
                <a:solidFill>
                  <a:srgbClr val="00694C"/>
                </a:solidFill>
                <a:latin typeface="Raleway Medium"/>
                <a:ea typeface="Raleway Medium"/>
                <a:cs typeface="Raleway Medium"/>
                <a:sym typeface="Raleway Medium"/>
              </a:rPr>
              <a:t>Features of Dataset</a:t>
            </a:r>
          </a:p>
        </p:txBody>
      </p:sp>
      <p:sp>
        <p:nvSpPr>
          <p:cNvPr id="21" name="TextBox 21"/>
          <p:cNvSpPr txBox="1"/>
          <p:nvPr/>
        </p:nvSpPr>
        <p:spPr>
          <a:xfrm>
            <a:off x="7290680" y="1667659"/>
            <a:ext cx="3207782" cy="1070496"/>
          </a:xfrm>
          <a:prstGeom prst="rect">
            <a:avLst/>
          </a:prstGeom>
        </p:spPr>
        <p:txBody>
          <a:bodyPr lIns="0" tIns="0" rIns="0" bIns="0" rtlCol="0" anchor="t">
            <a:spAutoFit/>
          </a:bodyPr>
          <a:lstStyle/>
          <a:p>
            <a:pPr algn="ctr">
              <a:lnSpc>
                <a:spcPts val="8721"/>
              </a:lnSpc>
            </a:pPr>
            <a:r>
              <a:rPr lang="en-US" sz="6229" b="1">
                <a:solidFill>
                  <a:srgbClr val="00694C"/>
                </a:solidFill>
                <a:latin typeface="Canva Sans Bold"/>
                <a:ea typeface="Canva Sans Bold"/>
                <a:cs typeface="Canva Sans Bold"/>
                <a:sym typeface="Canva Sans Bold"/>
              </a:rPr>
              <a:t>HEALTH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4F6EC"/>
        </a:solidFill>
        <a:effectLst/>
      </p:bgPr>
    </p:bg>
    <p:spTree>
      <p:nvGrpSpPr>
        <p:cNvPr id="1" name=""/>
        <p:cNvGrpSpPr/>
        <p:nvPr/>
      </p:nvGrpSpPr>
      <p:grpSpPr>
        <a:xfrm>
          <a:off x="0" y="0"/>
          <a:ext cx="0" cy="0"/>
          <a:chOff x="0" y="0"/>
          <a:chExt cx="0" cy="0"/>
        </a:xfrm>
      </p:grpSpPr>
      <p:grpSp>
        <p:nvGrpSpPr>
          <p:cNvPr id="2" name="Group 2"/>
          <p:cNvGrpSpPr/>
          <p:nvPr/>
        </p:nvGrpSpPr>
        <p:grpSpPr>
          <a:xfrm>
            <a:off x="6497251" y="4028229"/>
            <a:ext cx="5293498" cy="4944885"/>
            <a:chOff x="0" y="0"/>
            <a:chExt cx="1394172" cy="1302357"/>
          </a:xfrm>
        </p:grpSpPr>
        <p:sp>
          <p:nvSpPr>
            <p:cNvPr id="3" name="Freeform 3"/>
            <p:cNvSpPr/>
            <p:nvPr/>
          </p:nvSpPr>
          <p:spPr>
            <a:xfrm>
              <a:off x="0" y="0"/>
              <a:ext cx="1394172" cy="1302357"/>
            </a:xfrm>
            <a:custGeom>
              <a:avLst/>
              <a:gdLst/>
              <a:ahLst/>
              <a:cxnLst/>
              <a:rect l="l" t="t" r="r" b="b"/>
              <a:pathLst>
                <a:path w="1394172" h="1302357">
                  <a:moveTo>
                    <a:pt x="11700" y="0"/>
                  </a:moveTo>
                  <a:lnTo>
                    <a:pt x="1382472" y="0"/>
                  </a:lnTo>
                  <a:cubicBezTo>
                    <a:pt x="1388934" y="0"/>
                    <a:pt x="1394172" y="5238"/>
                    <a:pt x="1394172" y="11700"/>
                  </a:cubicBezTo>
                  <a:lnTo>
                    <a:pt x="1394172" y="1290656"/>
                  </a:lnTo>
                  <a:cubicBezTo>
                    <a:pt x="1394172" y="1297118"/>
                    <a:pt x="1388934" y="1302357"/>
                    <a:pt x="1382472" y="1302357"/>
                  </a:cubicBezTo>
                  <a:lnTo>
                    <a:pt x="11700" y="1302357"/>
                  </a:lnTo>
                  <a:cubicBezTo>
                    <a:pt x="5238" y="1302357"/>
                    <a:pt x="0" y="1297118"/>
                    <a:pt x="0" y="1290656"/>
                  </a:cubicBezTo>
                  <a:lnTo>
                    <a:pt x="0" y="11700"/>
                  </a:lnTo>
                  <a:cubicBezTo>
                    <a:pt x="0" y="5238"/>
                    <a:pt x="5238" y="0"/>
                    <a:pt x="11700" y="0"/>
                  </a:cubicBezTo>
                  <a:close/>
                </a:path>
              </a:pathLst>
            </a:custGeom>
            <a:solidFill>
              <a:srgbClr val="A9DFD0"/>
            </a:solidFill>
          </p:spPr>
        </p:sp>
        <p:sp>
          <p:nvSpPr>
            <p:cNvPr id="4" name="TextBox 4"/>
            <p:cNvSpPr txBox="1"/>
            <p:nvPr/>
          </p:nvSpPr>
          <p:spPr>
            <a:xfrm>
              <a:off x="0" y="-38100"/>
              <a:ext cx="1394172" cy="1340457"/>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1799344" y="542141"/>
            <a:ext cx="13856669" cy="1249343"/>
          </a:xfrm>
          <a:prstGeom prst="rect">
            <a:avLst/>
          </a:prstGeom>
        </p:spPr>
        <p:txBody>
          <a:bodyPr lIns="0" tIns="0" rIns="0" bIns="0" rtlCol="0" anchor="t">
            <a:spAutoFit/>
          </a:bodyPr>
          <a:lstStyle/>
          <a:p>
            <a:pPr marL="0" lvl="1" indent="0" algn="ctr">
              <a:lnSpc>
                <a:spcPts val="9037"/>
              </a:lnSpc>
            </a:pPr>
            <a:r>
              <a:rPr lang="en-US" sz="10041" b="1" spc="-461">
                <a:solidFill>
                  <a:srgbClr val="00694C"/>
                </a:solidFill>
                <a:latin typeface="Raleway Medium"/>
                <a:ea typeface="Raleway Medium"/>
                <a:cs typeface="Raleway Medium"/>
                <a:sym typeface="Raleway Medium"/>
              </a:rPr>
              <a:t>DATA COLLECTION</a:t>
            </a:r>
          </a:p>
        </p:txBody>
      </p:sp>
      <p:grpSp>
        <p:nvGrpSpPr>
          <p:cNvPr id="6" name="Group 6"/>
          <p:cNvGrpSpPr/>
          <p:nvPr/>
        </p:nvGrpSpPr>
        <p:grpSpPr>
          <a:xfrm>
            <a:off x="1032304" y="4028229"/>
            <a:ext cx="5293498" cy="4944885"/>
            <a:chOff x="0" y="0"/>
            <a:chExt cx="1394172" cy="1302357"/>
          </a:xfrm>
        </p:grpSpPr>
        <p:sp>
          <p:nvSpPr>
            <p:cNvPr id="7" name="Freeform 7"/>
            <p:cNvSpPr/>
            <p:nvPr/>
          </p:nvSpPr>
          <p:spPr>
            <a:xfrm>
              <a:off x="0" y="0"/>
              <a:ext cx="1394172" cy="1302357"/>
            </a:xfrm>
            <a:custGeom>
              <a:avLst/>
              <a:gdLst/>
              <a:ahLst/>
              <a:cxnLst/>
              <a:rect l="l" t="t" r="r" b="b"/>
              <a:pathLst>
                <a:path w="1394172" h="1302357">
                  <a:moveTo>
                    <a:pt x="11700" y="0"/>
                  </a:moveTo>
                  <a:lnTo>
                    <a:pt x="1382472" y="0"/>
                  </a:lnTo>
                  <a:cubicBezTo>
                    <a:pt x="1388934" y="0"/>
                    <a:pt x="1394172" y="5238"/>
                    <a:pt x="1394172" y="11700"/>
                  </a:cubicBezTo>
                  <a:lnTo>
                    <a:pt x="1394172" y="1290656"/>
                  </a:lnTo>
                  <a:cubicBezTo>
                    <a:pt x="1394172" y="1297118"/>
                    <a:pt x="1388934" y="1302357"/>
                    <a:pt x="1382472" y="1302357"/>
                  </a:cubicBezTo>
                  <a:lnTo>
                    <a:pt x="11700" y="1302357"/>
                  </a:lnTo>
                  <a:cubicBezTo>
                    <a:pt x="5238" y="1302357"/>
                    <a:pt x="0" y="1297118"/>
                    <a:pt x="0" y="1290656"/>
                  </a:cubicBezTo>
                  <a:lnTo>
                    <a:pt x="0" y="11700"/>
                  </a:lnTo>
                  <a:cubicBezTo>
                    <a:pt x="0" y="5238"/>
                    <a:pt x="5238" y="0"/>
                    <a:pt x="11700" y="0"/>
                  </a:cubicBezTo>
                  <a:close/>
                </a:path>
              </a:pathLst>
            </a:custGeom>
            <a:solidFill>
              <a:srgbClr val="A9DFD0"/>
            </a:solidFill>
          </p:spPr>
        </p:sp>
        <p:sp>
          <p:nvSpPr>
            <p:cNvPr id="8" name="TextBox 8"/>
            <p:cNvSpPr txBox="1"/>
            <p:nvPr/>
          </p:nvSpPr>
          <p:spPr>
            <a:xfrm>
              <a:off x="0" y="-38100"/>
              <a:ext cx="1394172" cy="1340457"/>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11965802" y="4028229"/>
            <a:ext cx="5293498" cy="4944885"/>
            <a:chOff x="0" y="0"/>
            <a:chExt cx="1394172" cy="1302357"/>
          </a:xfrm>
        </p:grpSpPr>
        <p:sp>
          <p:nvSpPr>
            <p:cNvPr id="10" name="Freeform 10"/>
            <p:cNvSpPr/>
            <p:nvPr/>
          </p:nvSpPr>
          <p:spPr>
            <a:xfrm>
              <a:off x="0" y="0"/>
              <a:ext cx="1394172" cy="1302357"/>
            </a:xfrm>
            <a:custGeom>
              <a:avLst/>
              <a:gdLst/>
              <a:ahLst/>
              <a:cxnLst/>
              <a:rect l="l" t="t" r="r" b="b"/>
              <a:pathLst>
                <a:path w="1394172" h="1302357">
                  <a:moveTo>
                    <a:pt x="11700" y="0"/>
                  </a:moveTo>
                  <a:lnTo>
                    <a:pt x="1382472" y="0"/>
                  </a:lnTo>
                  <a:cubicBezTo>
                    <a:pt x="1388934" y="0"/>
                    <a:pt x="1394172" y="5238"/>
                    <a:pt x="1394172" y="11700"/>
                  </a:cubicBezTo>
                  <a:lnTo>
                    <a:pt x="1394172" y="1290656"/>
                  </a:lnTo>
                  <a:cubicBezTo>
                    <a:pt x="1394172" y="1297118"/>
                    <a:pt x="1388934" y="1302357"/>
                    <a:pt x="1382472" y="1302357"/>
                  </a:cubicBezTo>
                  <a:lnTo>
                    <a:pt x="11700" y="1302357"/>
                  </a:lnTo>
                  <a:cubicBezTo>
                    <a:pt x="5238" y="1302357"/>
                    <a:pt x="0" y="1297118"/>
                    <a:pt x="0" y="1290656"/>
                  </a:cubicBezTo>
                  <a:lnTo>
                    <a:pt x="0" y="11700"/>
                  </a:lnTo>
                  <a:cubicBezTo>
                    <a:pt x="0" y="5238"/>
                    <a:pt x="5238" y="0"/>
                    <a:pt x="11700" y="0"/>
                  </a:cubicBezTo>
                  <a:close/>
                </a:path>
              </a:pathLst>
            </a:custGeom>
            <a:solidFill>
              <a:srgbClr val="A9DFD0"/>
            </a:solidFill>
          </p:spPr>
        </p:sp>
        <p:sp>
          <p:nvSpPr>
            <p:cNvPr id="11" name="TextBox 11"/>
            <p:cNvSpPr txBox="1"/>
            <p:nvPr/>
          </p:nvSpPr>
          <p:spPr>
            <a:xfrm>
              <a:off x="0" y="-38100"/>
              <a:ext cx="1394172" cy="1340457"/>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2465094" y="4475904"/>
            <a:ext cx="2420710" cy="1495425"/>
          </a:xfrm>
          <a:prstGeom prst="rect">
            <a:avLst/>
          </a:prstGeom>
        </p:spPr>
        <p:txBody>
          <a:bodyPr lIns="0" tIns="0" rIns="0" bIns="0" rtlCol="0" anchor="t">
            <a:spAutoFit/>
          </a:bodyPr>
          <a:lstStyle/>
          <a:p>
            <a:pPr marL="0" lvl="1" indent="0" algn="ctr">
              <a:lnSpc>
                <a:spcPts val="10800"/>
              </a:lnSpc>
            </a:pPr>
            <a:r>
              <a:rPr lang="en-US" sz="12000" b="1" spc="-552">
                <a:solidFill>
                  <a:srgbClr val="00694C"/>
                </a:solidFill>
                <a:latin typeface="Raleway Medium"/>
                <a:ea typeface="Raleway Medium"/>
                <a:cs typeface="Raleway Medium"/>
                <a:sym typeface="Raleway Medium"/>
              </a:rPr>
              <a:t>01.</a:t>
            </a:r>
          </a:p>
        </p:txBody>
      </p:sp>
      <p:sp>
        <p:nvSpPr>
          <p:cNvPr id="13" name="TextBox 13"/>
          <p:cNvSpPr txBox="1"/>
          <p:nvPr/>
        </p:nvSpPr>
        <p:spPr>
          <a:xfrm>
            <a:off x="7933645" y="4475904"/>
            <a:ext cx="2420710" cy="1495425"/>
          </a:xfrm>
          <a:prstGeom prst="rect">
            <a:avLst/>
          </a:prstGeom>
        </p:spPr>
        <p:txBody>
          <a:bodyPr lIns="0" tIns="0" rIns="0" bIns="0" rtlCol="0" anchor="t">
            <a:spAutoFit/>
          </a:bodyPr>
          <a:lstStyle/>
          <a:p>
            <a:pPr marL="0" lvl="1" indent="0" algn="ctr">
              <a:lnSpc>
                <a:spcPts val="10800"/>
              </a:lnSpc>
            </a:pPr>
            <a:r>
              <a:rPr lang="en-US" sz="12000" b="1" spc="-552">
                <a:solidFill>
                  <a:srgbClr val="00694C"/>
                </a:solidFill>
                <a:latin typeface="Raleway Medium"/>
                <a:ea typeface="Raleway Medium"/>
                <a:cs typeface="Raleway Medium"/>
                <a:sym typeface="Raleway Medium"/>
              </a:rPr>
              <a:t>02.</a:t>
            </a:r>
          </a:p>
        </p:txBody>
      </p:sp>
      <p:sp>
        <p:nvSpPr>
          <p:cNvPr id="14" name="TextBox 14"/>
          <p:cNvSpPr txBox="1"/>
          <p:nvPr/>
        </p:nvSpPr>
        <p:spPr>
          <a:xfrm>
            <a:off x="13402196" y="4475904"/>
            <a:ext cx="2420710" cy="1495425"/>
          </a:xfrm>
          <a:prstGeom prst="rect">
            <a:avLst/>
          </a:prstGeom>
        </p:spPr>
        <p:txBody>
          <a:bodyPr lIns="0" tIns="0" rIns="0" bIns="0" rtlCol="0" anchor="t">
            <a:spAutoFit/>
          </a:bodyPr>
          <a:lstStyle/>
          <a:p>
            <a:pPr marL="0" lvl="1" indent="0" algn="ctr">
              <a:lnSpc>
                <a:spcPts val="10800"/>
              </a:lnSpc>
            </a:pPr>
            <a:r>
              <a:rPr lang="en-US" sz="12000" b="1" spc="-552">
                <a:solidFill>
                  <a:srgbClr val="00694C"/>
                </a:solidFill>
                <a:latin typeface="Raleway Medium"/>
                <a:ea typeface="Raleway Medium"/>
                <a:cs typeface="Raleway Medium"/>
                <a:sym typeface="Raleway Medium"/>
              </a:rPr>
              <a:t>03.</a:t>
            </a:r>
          </a:p>
        </p:txBody>
      </p:sp>
      <p:sp>
        <p:nvSpPr>
          <p:cNvPr id="15" name="TextBox 15"/>
          <p:cNvSpPr txBox="1"/>
          <p:nvPr/>
        </p:nvSpPr>
        <p:spPr>
          <a:xfrm>
            <a:off x="1799344" y="6629488"/>
            <a:ext cx="4095146" cy="2150745"/>
          </a:xfrm>
          <a:prstGeom prst="rect">
            <a:avLst/>
          </a:prstGeom>
        </p:spPr>
        <p:txBody>
          <a:bodyPr lIns="0" tIns="0" rIns="0" bIns="0" rtlCol="0" anchor="t">
            <a:spAutoFit/>
          </a:bodyPr>
          <a:lstStyle/>
          <a:p>
            <a:pPr algn="just">
              <a:lnSpc>
                <a:spcPts val="2430"/>
              </a:lnSpc>
            </a:pPr>
            <a:r>
              <a:rPr lang="en-US" sz="1800" b="1" spc="-37">
                <a:solidFill>
                  <a:srgbClr val="00694C"/>
                </a:solidFill>
                <a:latin typeface="Raleway Semi-Bold"/>
                <a:ea typeface="Raleway Semi-Bold"/>
                <a:cs typeface="Raleway Semi-Bold"/>
                <a:sym typeface="Raleway Semi-Bold"/>
              </a:rPr>
              <a:t>We have collected data from government websites and international organization websites like </a:t>
            </a:r>
          </a:p>
          <a:p>
            <a:pPr marL="388623" lvl="1" indent="-194312" algn="just">
              <a:lnSpc>
                <a:spcPts val="2430"/>
              </a:lnSpc>
              <a:buFont typeface="Arial"/>
              <a:buChar char="•"/>
            </a:pPr>
            <a:r>
              <a:rPr lang="en-US" sz="1800" b="1" spc="-37">
                <a:solidFill>
                  <a:srgbClr val="00694C"/>
                </a:solidFill>
                <a:latin typeface="Raleway Semi-Bold"/>
                <a:ea typeface="Raleway Semi-Bold"/>
                <a:cs typeface="Raleway Semi-Bold"/>
                <a:sym typeface="Raleway Semi-Bold"/>
              </a:rPr>
              <a:t>data.gov.in</a:t>
            </a:r>
          </a:p>
          <a:p>
            <a:pPr marL="388623" lvl="1" indent="-194312" algn="just">
              <a:lnSpc>
                <a:spcPts val="2430"/>
              </a:lnSpc>
              <a:buFont typeface="Arial"/>
              <a:buChar char="•"/>
            </a:pPr>
            <a:r>
              <a:rPr lang="en-US" sz="1800" b="1" spc="-37">
                <a:solidFill>
                  <a:srgbClr val="00694C"/>
                </a:solidFill>
                <a:latin typeface="Raleway Semi-Bold"/>
                <a:ea typeface="Raleway Semi-Bold"/>
                <a:cs typeface="Raleway Semi-Bold"/>
                <a:sym typeface="Raleway Semi-Bold"/>
              </a:rPr>
              <a:t>opencity website</a:t>
            </a:r>
          </a:p>
          <a:p>
            <a:pPr algn="just">
              <a:lnSpc>
                <a:spcPts val="2520"/>
              </a:lnSpc>
            </a:pPr>
            <a:endParaRPr lang="en-US" sz="1800" b="1" spc="-37">
              <a:solidFill>
                <a:srgbClr val="00694C"/>
              </a:solidFill>
              <a:latin typeface="Raleway Semi-Bold"/>
              <a:ea typeface="Raleway Semi-Bold"/>
              <a:cs typeface="Raleway Semi-Bold"/>
              <a:sym typeface="Raleway Semi-Bold"/>
            </a:endParaRPr>
          </a:p>
          <a:p>
            <a:pPr algn="just">
              <a:lnSpc>
                <a:spcPts val="2520"/>
              </a:lnSpc>
              <a:spcBef>
                <a:spcPct val="0"/>
              </a:spcBef>
            </a:pPr>
            <a:endParaRPr lang="en-US" sz="1800" b="1" spc="-37">
              <a:solidFill>
                <a:srgbClr val="00694C"/>
              </a:solidFill>
              <a:latin typeface="Raleway Semi-Bold"/>
              <a:ea typeface="Raleway Semi-Bold"/>
              <a:cs typeface="Raleway Semi-Bold"/>
              <a:sym typeface="Raleway Semi-Bold"/>
            </a:endParaRPr>
          </a:p>
        </p:txBody>
      </p:sp>
      <p:sp>
        <p:nvSpPr>
          <p:cNvPr id="16" name="TextBox 16"/>
          <p:cNvSpPr txBox="1"/>
          <p:nvPr/>
        </p:nvSpPr>
        <p:spPr>
          <a:xfrm>
            <a:off x="7098229" y="6599008"/>
            <a:ext cx="4095146" cy="1573530"/>
          </a:xfrm>
          <a:prstGeom prst="rect">
            <a:avLst/>
          </a:prstGeom>
        </p:spPr>
        <p:txBody>
          <a:bodyPr lIns="0" tIns="0" rIns="0" bIns="0" rtlCol="0" anchor="t">
            <a:spAutoFit/>
          </a:bodyPr>
          <a:lstStyle/>
          <a:p>
            <a:pPr marL="388623" lvl="1" indent="-194312" algn="just">
              <a:lnSpc>
                <a:spcPts val="2520"/>
              </a:lnSpc>
              <a:buFont typeface="Arial"/>
              <a:buChar char="•"/>
            </a:pPr>
            <a:r>
              <a:rPr lang="en-US" sz="1800" b="1">
                <a:solidFill>
                  <a:srgbClr val="00694C"/>
                </a:solidFill>
                <a:latin typeface="Raleway Semi-Bold"/>
                <a:ea typeface="Raleway Semi-Bold"/>
                <a:cs typeface="Raleway Semi-Bold"/>
                <a:sym typeface="Raleway Semi-Bold"/>
              </a:rPr>
              <a:t>Size of the Dataset: 62,000,000 bytes(62 MB)</a:t>
            </a:r>
          </a:p>
          <a:p>
            <a:pPr marL="388623" lvl="1" indent="-194312" algn="just">
              <a:lnSpc>
                <a:spcPts val="2520"/>
              </a:lnSpc>
              <a:buFont typeface="Arial"/>
              <a:buChar char="•"/>
            </a:pPr>
            <a:r>
              <a:rPr lang="en-US" sz="1800" b="1">
                <a:solidFill>
                  <a:srgbClr val="00694C"/>
                </a:solidFill>
                <a:latin typeface="Raleway Semi-Bold"/>
                <a:ea typeface="Raleway Semi-Bold"/>
                <a:cs typeface="Raleway Semi-Bold"/>
                <a:sym typeface="Raleway Semi-Bold"/>
              </a:rPr>
              <a:t>Total Records: 4,35,740</a:t>
            </a:r>
          </a:p>
          <a:p>
            <a:pPr marL="388623" lvl="1" indent="-194312" algn="just">
              <a:lnSpc>
                <a:spcPts val="2520"/>
              </a:lnSpc>
              <a:buFont typeface="Arial"/>
              <a:buChar char="•"/>
            </a:pPr>
            <a:r>
              <a:rPr lang="en-US" sz="1800" b="1">
                <a:solidFill>
                  <a:srgbClr val="00694C"/>
                </a:solidFill>
                <a:latin typeface="Raleway Semi-Bold"/>
                <a:ea typeface="Raleway Semi-Bold"/>
                <a:cs typeface="Raleway Semi-Bold"/>
                <a:sym typeface="Raleway Semi-Bold"/>
              </a:rPr>
              <a:t>Total Fields: 13</a:t>
            </a:r>
          </a:p>
          <a:p>
            <a:pPr marL="388623" lvl="1" indent="-194312" algn="just">
              <a:lnSpc>
                <a:spcPts val="2520"/>
              </a:lnSpc>
              <a:buFont typeface="Arial"/>
              <a:buChar char="•"/>
            </a:pPr>
            <a:r>
              <a:rPr lang="en-US" sz="1800" b="1">
                <a:solidFill>
                  <a:srgbClr val="00694C"/>
                </a:solidFill>
                <a:latin typeface="Raleway Semi-Bold"/>
                <a:ea typeface="Raleway Semi-Bold"/>
                <a:cs typeface="Raleway Semi-Bold"/>
                <a:sym typeface="Raleway Semi-Bold"/>
              </a:rPr>
              <a:t>Type of Dataset: .csv file </a:t>
            </a:r>
          </a:p>
        </p:txBody>
      </p:sp>
      <p:sp>
        <p:nvSpPr>
          <p:cNvPr id="17" name="TextBox 17"/>
          <p:cNvSpPr txBox="1"/>
          <p:nvPr/>
        </p:nvSpPr>
        <p:spPr>
          <a:xfrm>
            <a:off x="12564978" y="6578053"/>
            <a:ext cx="4095146" cy="2202180"/>
          </a:xfrm>
          <a:prstGeom prst="rect">
            <a:avLst/>
          </a:prstGeom>
        </p:spPr>
        <p:txBody>
          <a:bodyPr lIns="0" tIns="0" rIns="0" bIns="0" rtlCol="0" anchor="t">
            <a:spAutoFit/>
          </a:bodyPr>
          <a:lstStyle/>
          <a:p>
            <a:pPr marL="388623" lvl="1" indent="-194312" algn="just">
              <a:lnSpc>
                <a:spcPts val="2520"/>
              </a:lnSpc>
              <a:buFont typeface="Arial"/>
              <a:buChar char="•"/>
            </a:pPr>
            <a:r>
              <a:rPr lang="en-US" sz="1800" b="1">
                <a:solidFill>
                  <a:srgbClr val="00694C"/>
                </a:solidFill>
                <a:latin typeface="Raleway Semi-Bold"/>
                <a:ea typeface="Raleway Semi-Bold"/>
                <a:cs typeface="Raleway Semi-Bold"/>
                <a:sym typeface="Raleway Semi-Bold"/>
              </a:rPr>
              <a:t>State code</a:t>
            </a:r>
          </a:p>
          <a:p>
            <a:pPr marL="388623" lvl="1" indent="-194312" algn="just">
              <a:lnSpc>
                <a:spcPts val="2520"/>
              </a:lnSpc>
              <a:buFont typeface="Arial"/>
              <a:buChar char="•"/>
            </a:pPr>
            <a:r>
              <a:rPr lang="en-US" sz="1800" b="1">
                <a:solidFill>
                  <a:srgbClr val="00694C"/>
                </a:solidFill>
                <a:latin typeface="Raleway Semi-Bold"/>
                <a:ea typeface="Raleway Semi-Bold"/>
                <a:cs typeface="Raleway Semi-Bold"/>
                <a:sym typeface="Raleway Semi-Bold"/>
              </a:rPr>
              <a:t>Sampling date</a:t>
            </a:r>
          </a:p>
          <a:p>
            <a:pPr marL="388623" lvl="1" indent="-194312" algn="just">
              <a:lnSpc>
                <a:spcPts val="2520"/>
              </a:lnSpc>
              <a:buFont typeface="Arial"/>
              <a:buChar char="•"/>
            </a:pPr>
            <a:r>
              <a:rPr lang="en-US" sz="1800" b="1">
                <a:solidFill>
                  <a:srgbClr val="00694C"/>
                </a:solidFill>
                <a:latin typeface="Raleway Semi-Bold"/>
                <a:ea typeface="Raleway Semi-Bold"/>
                <a:cs typeface="Raleway Semi-Bold"/>
                <a:sym typeface="Raleway Semi-Bold"/>
              </a:rPr>
              <a:t>State</a:t>
            </a:r>
          </a:p>
          <a:p>
            <a:pPr marL="388623" lvl="1" indent="-194312" algn="just">
              <a:lnSpc>
                <a:spcPts val="2520"/>
              </a:lnSpc>
              <a:buFont typeface="Arial"/>
              <a:buChar char="•"/>
            </a:pPr>
            <a:r>
              <a:rPr lang="en-US" sz="1800" b="1">
                <a:solidFill>
                  <a:srgbClr val="00694C"/>
                </a:solidFill>
                <a:latin typeface="Raleway Semi-Bold"/>
                <a:ea typeface="Raleway Semi-Bold"/>
                <a:cs typeface="Raleway Semi-Bold"/>
                <a:sym typeface="Raleway Semi-Bold"/>
              </a:rPr>
              <a:t>Location</a:t>
            </a:r>
          </a:p>
          <a:p>
            <a:pPr marL="388623" lvl="1" indent="-194312" algn="just">
              <a:lnSpc>
                <a:spcPts val="2520"/>
              </a:lnSpc>
              <a:buFont typeface="Arial"/>
              <a:buChar char="•"/>
            </a:pPr>
            <a:r>
              <a:rPr lang="en-US" sz="1800" b="1">
                <a:solidFill>
                  <a:srgbClr val="00694C"/>
                </a:solidFill>
                <a:latin typeface="Raleway Semi-Bold"/>
                <a:ea typeface="Raleway Semi-Bold"/>
                <a:cs typeface="Raleway Semi-Bold"/>
                <a:sym typeface="Raleway Semi-Bold"/>
              </a:rPr>
              <a:t>SO2</a:t>
            </a:r>
          </a:p>
          <a:p>
            <a:pPr marL="388623" lvl="1" indent="-194312" algn="just">
              <a:lnSpc>
                <a:spcPts val="2520"/>
              </a:lnSpc>
              <a:buFont typeface="Arial"/>
              <a:buChar char="•"/>
            </a:pPr>
            <a:r>
              <a:rPr lang="en-US" sz="1800" b="1">
                <a:solidFill>
                  <a:srgbClr val="00694C"/>
                </a:solidFill>
                <a:latin typeface="Raleway Semi-Bold"/>
                <a:ea typeface="Raleway Semi-Bold"/>
                <a:cs typeface="Raleway Semi-Bold"/>
                <a:sym typeface="Raleway Semi-Bold"/>
              </a:rPr>
              <a:t>NO2</a:t>
            </a:r>
          </a:p>
          <a:p>
            <a:pPr marL="388623" lvl="1" indent="-194312" algn="just">
              <a:lnSpc>
                <a:spcPts val="2520"/>
              </a:lnSpc>
              <a:buFont typeface="Arial"/>
              <a:buChar char="•"/>
            </a:pPr>
            <a:r>
              <a:rPr lang="en-US" sz="1800" b="1">
                <a:solidFill>
                  <a:srgbClr val="00694C"/>
                </a:solidFill>
                <a:latin typeface="Raleway Semi-Bold"/>
                <a:ea typeface="Raleway Semi-Bold"/>
                <a:cs typeface="Raleway Semi-Bold"/>
                <a:sym typeface="Raleway Semi-Bold"/>
              </a:rPr>
              <a:t>Type</a:t>
            </a:r>
          </a:p>
        </p:txBody>
      </p:sp>
      <p:sp>
        <p:nvSpPr>
          <p:cNvPr id="18" name="TextBox 18"/>
          <p:cNvSpPr txBox="1"/>
          <p:nvPr/>
        </p:nvSpPr>
        <p:spPr>
          <a:xfrm>
            <a:off x="1627876" y="6057054"/>
            <a:ext cx="4095146" cy="416973"/>
          </a:xfrm>
          <a:prstGeom prst="rect">
            <a:avLst/>
          </a:prstGeom>
        </p:spPr>
        <p:txBody>
          <a:bodyPr lIns="0" tIns="0" rIns="0" bIns="0" rtlCol="0" anchor="t">
            <a:spAutoFit/>
          </a:bodyPr>
          <a:lstStyle/>
          <a:p>
            <a:pPr marL="0" lvl="1" indent="0" algn="ctr">
              <a:lnSpc>
                <a:spcPts val="2968"/>
              </a:lnSpc>
            </a:pPr>
            <a:r>
              <a:rPr lang="en-US" sz="3298" b="1" spc="-151">
                <a:solidFill>
                  <a:srgbClr val="00694C"/>
                </a:solidFill>
                <a:latin typeface="Raleway Medium"/>
                <a:ea typeface="Raleway Medium"/>
                <a:cs typeface="Raleway Medium"/>
                <a:sym typeface="Raleway Medium"/>
              </a:rPr>
              <a:t>Dataset Sources</a:t>
            </a:r>
          </a:p>
        </p:txBody>
      </p:sp>
      <p:sp>
        <p:nvSpPr>
          <p:cNvPr id="19" name="TextBox 19"/>
          <p:cNvSpPr txBox="1"/>
          <p:nvPr/>
        </p:nvSpPr>
        <p:spPr>
          <a:xfrm>
            <a:off x="7096427" y="6132880"/>
            <a:ext cx="4095146" cy="416973"/>
          </a:xfrm>
          <a:prstGeom prst="rect">
            <a:avLst/>
          </a:prstGeom>
        </p:spPr>
        <p:txBody>
          <a:bodyPr lIns="0" tIns="0" rIns="0" bIns="0" rtlCol="0" anchor="t">
            <a:spAutoFit/>
          </a:bodyPr>
          <a:lstStyle/>
          <a:p>
            <a:pPr marL="0" lvl="1" indent="0" algn="ctr">
              <a:lnSpc>
                <a:spcPts val="2968"/>
              </a:lnSpc>
            </a:pPr>
            <a:r>
              <a:rPr lang="en-US" sz="3298" b="1" spc="-151">
                <a:solidFill>
                  <a:srgbClr val="00694C"/>
                </a:solidFill>
                <a:latin typeface="Raleway Medium"/>
                <a:ea typeface="Raleway Medium"/>
                <a:cs typeface="Raleway Medium"/>
                <a:sym typeface="Raleway Medium"/>
              </a:rPr>
              <a:t>Properties of Dataset</a:t>
            </a:r>
          </a:p>
        </p:txBody>
      </p:sp>
      <p:sp>
        <p:nvSpPr>
          <p:cNvPr id="20" name="TextBox 20"/>
          <p:cNvSpPr txBox="1"/>
          <p:nvPr/>
        </p:nvSpPr>
        <p:spPr>
          <a:xfrm>
            <a:off x="12564978" y="6057054"/>
            <a:ext cx="4095146" cy="416973"/>
          </a:xfrm>
          <a:prstGeom prst="rect">
            <a:avLst/>
          </a:prstGeom>
        </p:spPr>
        <p:txBody>
          <a:bodyPr lIns="0" tIns="0" rIns="0" bIns="0" rtlCol="0" anchor="t">
            <a:spAutoFit/>
          </a:bodyPr>
          <a:lstStyle/>
          <a:p>
            <a:pPr marL="0" lvl="1" indent="0" algn="ctr">
              <a:lnSpc>
                <a:spcPts val="2968"/>
              </a:lnSpc>
            </a:pPr>
            <a:r>
              <a:rPr lang="en-US" sz="3298" b="1" spc="-151">
                <a:solidFill>
                  <a:srgbClr val="00694C"/>
                </a:solidFill>
                <a:latin typeface="Raleway Medium"/>
                <a:ea typeface="Raleway Medium"/>
                <a:cs typeface="Raleway Medium"/>
                <a:sym typeface="Raleway Medium"/>
              </a:rPr>
              <a:t>Features of Dataset</a:t>
            </a:r>
          </a:p>
        </p:txBody>
      </p:sp>
      <p:sp>
        <p:nvSpPr>
          <p:cNvPr id="21" name="TextBox 21"/>
          <p:cNvSpPr txBox="1"/>
          <p:nvPr/>
        </p:nvSpPr>
        <p:spPr>
          <a:xfrm>
            <a:off x="4366360" y="1658134"/>
            <a:ext cx="9555279" cy="1096159"/>
          </a:xfrm>
          <a:prstGeom prst="rect">
            <a:avLst/>
          </a:prstGeom>
        </p:spPr>
        <p:txBody>
          <a:bodyPr lIns="0" tIns="0" rIns="0" bIns="0" rtlCol="0" anchor="t">
            <a:spAutoFit/>
          </a:bodyPr>
          <a:lstStyle/>
          <a:p>
            <a:pPr algn="ctr">
              <a:lnSpc>
                <a:spcPts val="8881"/>
              </a:lnSpc>
            </a:pPr>
            <a:r>
              <a:rPr lang="en-US" sz="6344" b="1">
                <a:solidFill>
                  <a:srgbClr val="00694C"/>
                </a:solidFill>
                <a:latin typeface="Raleway Bold"/>
                <a:ea typeface="Raleway Bold"/>
                <a:cs typeface="Raleway Bold"/>
                <a:sym typeface="Raleway Bold"/>
              </a:rPr>
              <a:t>ENVIRONMENT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4F6EC"/>
        </a:solidFill>
        <a:effectLst/>
      </p:bgPr>
    </p:bg>
    <p:spTree>
      <p:nvGrpSpPr>
        <p:cNvPr id="1" name=""/>
        <p:cNvGrpSpPr/>
        <p:nvPr/>
      </p:nvGrpSpPr>
      <p:grpSpPr>
        <a:xfrm>
          <a:off x="0" y="0"/>
          <a:ext cx="0" cy="0"/>
          <a:chOff x="0" y="0"/>
          <a:chExt cx="0" cy="0"/>
        </a:xfrm>
      </p:grpSpPr>
      <p:grpSp>
        <p:nvGrpSpPr>
          <p:cNvPr id="2" name="Group 2"/>
          <p:cNvGrpSpPr/>
          <p:nvPr/>
        </p:nvGrpSpPr>
        <p:grpSpPr>
          <a:xfrm>
            <a:off x="6497251" y="4028229"/>
            <a:ext cx="5293498" cy="4944885"/>
            <a:chOff x="0" y="0"/>
            <a:chExt cx="1394172" cy="1302357"/>
          </a:xfrm>
        </p:grpSpPr>
        <p:sp>
          <p:nvSpPr>
            <p:cNvPr id="3" name="Freeform 3"/>
            <p:cNvSpPr/>
            <p:nvPr/>
          </p:nvSpPr>
          <p:spPr>
            <a:xfrm>
              <a:off x="0" y="0"/>
              <a:ext cx="1394172" cy="1302357"/>
            </a:xfrm>
            <a:custGeom>
              <a:avLst/>
              <a:gdLst/>
              <a:ahLst/>
              <a:cxnLst/>
              <a:rect l="l" t="t" r="r" b="b"/>
              <a:pathLst>
                <a:path w="1394172" h="1302357">
                  <a:moveTo>
                    <a:pt x="11700" y="0"/>
                  </a:moveTo>
                  <a:lnTo>
                    <a:pt x="1382472" y="0"/>
                  </a:lnTo>
                  <a:cubicBezTo>
                    <a:pt x="1388934" y="0"/>
                    <a:pt x="1394172" y="5238"/>
                    <a:pt x="1394172" y="11700"/>
                  </a:cubicBezTo>
                  <a:lnTo>
                    <a:pt x="1394172" y="1290656"/>
                  </a:lnTo>
                  <a:cubicBezTo>
                    <a:pt x="1394172" y="1297118"/>
                    <a:pt x="1388934" y="1302357"/>
                    <a:pt x="1382472" y="1302357"/>
                  </a:cubicBezTo>
                  <a:lnTo>
                    <a:pt x="11700" y="1302357"/>
                  </a:lnTo>
                  <a:cubicBezTo>
                    <a:pt x="5238" y="1302357"/>
                    <a:pt x="0" y="1297118"/>
                    <a:pt x="0" y="1290656"/>
                  </a:cubicBezTo>
                  <a:lnTo>
                    <a:pt x="0" y="11700"/>
                  </a:lnTo>
                  <a:cubicBezTo>
                    <a:pt x="0" y="5238"/>
                    <a:pt x="5238" y="0"/>
                    <a:pt x="11700" y="0"/>
                  </a:cubicBezTo>
                  <a:close/>
                </a:path>
              </a:pathLst>
            </a:custGeom>
            <a:solidFill>
              <a:srgbClr val="A9DFD0"/>
            </a:solidFill>
          </p:spPr>
        </p:sp>
        <p:sp>
          <p:nvSpPr>
            <p:cNvPr id="4" name="TextBox 4"/>
            <p:cNvSpPr txBox="1"/>
            <p:nvPr/>
          </p:nvSpPr>
          <p:spPr>
            <a:xfrm>
              <a:off x="0" y="-38100"/>
              <a:ext cx="1394172" cy="1340457"/>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2215665" y="1876425"/>
            <a:ext cx="13856669" cy="1249343"/>
          </a:xfrm>
          <a:prstGeom prst="rect">
            <a:avLst/>
          </a:prstGeom>
        </p:spPr>
        <p:txBody>
          <a:bodyPr lIns="0" tIns="0" rIns="0" bIns="0" rtlCol="0" anchor="t">
            <a:spAutoFit/>
          </a:bodyPr>
          <a:lstStyle/>
          <a:p>
            <a:pPr marL="0" lvl="1" indent="0" algn="ctr">
              <a:lnSpc>
                <a:spcPts val="9037"/>
              </a:lnSpc>
            </a:pPr>
            <a:r>
              <a:rPr lang="en-US" sz="10041" b="1" spc="-461">
                <a:solidFill>
                  <a:srgbClr val="00694C"/>
                </a:solidFill>
                <a:latin typeface="Raleway Medium"/>
                <a:ea typeface="Raleway Medium"/>
                <a:cs typeface="Raleway Medium"/>
                <a:sym typeface="Raleway Medium"/>
              </a:rPr>
              <a:t>DATA PRE-PROCESSING</a:t>
            </a:r>
          </a:p>
        </p:txBody>
      </p:sp>
      <p:grpSp>
        <p:nvGrpSpPr>
          <p:cNvPr id="6" name="Group 6"/>
          <p:cNvGrpSpPr/>
          <p:nvPr/>
        </p:nvGrpSpPr>
        <p:grpSpPr>
          <a:xfrm>
            <a:off x="1032304" y="4028229"/>
            <a:ext cx="5293498" cy="4944885"/>
            <a:chOff x="0" y="0"/>
            <a:chExt cx="1394172" cy="1302357"/>
          </a:xfrm>
        </p:grpSpPr>
        <p:sp>
          <p:nvSpPr>
            <p:cNvPr id="7" name="Freeform 7"/>
            <p:cNvSpPr/>
            <p:nvPr/>
          </p:nvSpPr>
          <p:spPr>
            <a:xfrm>
              <a:off x="0" y="0"/>
              <a:ext cx="1394172" cy="1302357"/>
            </a:xfrm>
            <a:custGeom>
              <a:avLst/>
              <a:gdLst/>
              <a:ahLst/>
              <a:cxnLst/>
              <a:rect l="l" t="t" r="r" b="b"/>
              <a:pathLst>
                <a:path w="1394172" h="1302357">
                  <a:moveTo>
                    <a:pt x="11700" y="0"/>
                  </a:moveTo>
                  <a:lnTo>
                    <a:pt x="1382472" y="0"/>
                  </a:lnTo>
                  <a:cubicBezTo>
                    <a:pt x="1388934" y="0"/>
                    <a:pt x="1394172" y="5238"/>
                    <a:pt x="1394172" y="11700"/>
                  </a:cubicBezTo>
                  <a:lnTo>
                    <a:pt x="1394172" y="1290656"/>
                  </a:lnTo>
                  <a:cubicBezTo>
                    <a:pt x="1394172" y="1297118"/>
                    <a:pt x="1388934" y="1302357"/>
                    <a:pt x="1382472" y="1302357"/>
                  </a:cubicBezTo>
                  <a:lnTo>
                    <a:pt x="11700" y="1302357"/>
                  </a:lnTo>
                  <a:cubicBezTo>
                    <a:pt x="5238" y="1302357"/>
                    <a:pt x="0" y="1297118"/>
                    <a:pt x="0" y="1290656"/>
                  </a:cubicBezTo>
                  <a:lnTo>
                    <a:pt x="0" y="11700"/>
                  </a:lnTo>
                  <a:cubicBezTo>
                    <a:pt x="0" y="5238"/>
                    <a:pt x="5238" y="0"/>
                    <a:pt x="11700" y="0"/>
                  </a:cubicBezTo>
                  <a:close/>
                </a:path>
              </a:pathLst>
            </a:custGeom>
            <a:solidFill>
              <a:srgbClr val="A9DFD0"/>
            </a:solidFill>
          </p:spPr>
        </p:sp>
        <p:sp>
          <p:nvSpPr>
            <p:cNvPr id="8" name="TextBox 8"/>
            <p:cNvSpPr txBox="1"/>
            <p:nvPr/>
          </p:nvSpPr>
          <p:spPr>
            <a:xfrm>
              <a:off x="0" y="-38100"/>
              <a:ext cx="1394172" cy="1340457"/>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11965802" y="4028229"/>
            <a:ext cx="5293498" cy="4944885"/>
            <a:chOff x="0" y="0"/>
            <a:chExt cx="1394172" cy="1302357"/>
          </a:xfrm>
        </p:grpSpPr>
        <p:sp>
          <p:nvSpPr>
            <p:cNvPr id="10" name="Freeform 10"/>
            <p:cNvSpPr/>
            <p:nvPr/>
          </p:nvSpPr>
          <p:spPr>
            <a:xfrm>
              <a:off x="0" y="0"/>
              <a:ext cx="1394172" cy="1302357"/>
            </a:xfrm>
            <a:custGeom>
              <a:avLst/>
              <a:gdLst/>
              <a:ahLst/>
              <a:cxnLst/>
              <a:rect l="l" t="t" r="r" b="b"/>
              <a:pathLst>
                <a:path w="1394172" h="1302357">
                  <a:moveTo>
                    <a:pt x="11700" y="0"/>
                  </a:moveTo>
                  <a:lnTo>
                    <a:pt x="1382472" y="0"/>
                  </a:lnTo>
                  <a:cubicBezTo>
                    <a:pt x="1388934" y="0"/>
                    <a:pt x="1394172" y="5238"/>
                    <a:pt x="1394172" y="11700"/>
                  </a:cubicBezTo>
                  <a:lnTo>
                    <a:pt x="1394172" y="1290656"/>
                  </a:lnTo>
                  <a:cubicBezTo>
                    <a:pt x="1394172" y="1297118"/>
                    <a:pt x="1388934" y="1302357"/>
                    <a:pt x="1382472" y="1302357"/>
                  </a:cubicBezTo>
                  <a:lnTo>
                    <a:pt x="11700" y="1302357"/>
                  </a:lnTo>
                  <a:cubicBezTo>
                    <a:pt x="5238" y="1302357"/>
                    <a:pt x="0" y="1297118"/>
                    <a:pt x="0" y="1290656"/>
                  </a:cubicBezTo>
                  <a:lnTo>
                    <a:pt x="0" y="11700"/>
                  </a:lnTo>
                  <a:cubicBezTo>
                    <a:pt x="0" y="5238"/>
                    <a:pt x="5238" y="0"/>
                    <a:pt x="11700" y="0"/>
                  </a:cubicBezTo>
                  <a:close/>
                </a:path>
              </a:pathLst>
            </a:custGeom>
            <a:solidFill>
              <a:srgbClr val="A9DFD0"/>
            </a:solidFill>
          </p:spPr>
        </p:sp>
        <p:sp>
          <p:nvSpPr>
            <p:cNvPr id="11" name="TextBox 11"/>
            <p:cNvSpPr txBox="1"/>
            <p:nvPr/>
          </p:nvSpPr>
          <p:spPr>
            <a:xfrm>
              <a:off x="0" y="-38100"/>
              <a:ext cx="1394172" cy="1340457"/>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2465094" y="4475904"/>
            <a:ext cx="2420710" cy="1495425"/>
          </a:xfrm>
          <a:prstGeom prst="rect">
            <a:avLst/>
          </a:prstGeom>
        </p:spPr>
        <p:txBody>
          <a:bodyPr lIns="0" tIns="0" rIns="0" bIns="0" rtlCol="0" anchor="t">
            <a:spAutoFit/>
          </a:bodyPr>
          <a:lstStyle/>
          <a:p>
            <a:pPr marL="0" lvl="1" indent="0" algn="ctr">
              <a:lnSpc>
                <a:spcPts val="10800"/>
              </a:lnSpc>
            </a:pPr>
            <a:r>
              <a:rPr lang="en-US" sz="12000" b="1" spc="-552">
                <a:solidFill>
                  <a:srgbClr val="00694C"/>
                </a:solidFill>
                <a:latin typeface="Raleway Medium"/>
                <a:ea typeface="Raleway Medium"/>
                <a:cs typeface="Raleway Medium"/>
                <a:sym typeface="Raleway Medium"/>
              </a:rPr>
              <a:t>01.</a:t>
            </a:r>
          </a:p>
        </p:txBody>
      </p:sp>
      <p:sp>
        <p:nvSpPr>
          <p:cNvPr id="13" name="TextBox 13"/>
          <p:cNvSpPr txBox="1"/>
          <p:nvPr/>
        </p:nvSpPr>
        <p:spPr>
          <a:xfrm>
            <a:off x="7933645" y="4475904"/>
            <a:ext cx="2420710" cy="1495425"/>
          </a:xfrm>
          <a:prstGeom prst="rect">
            <a:avLst/>
          </a:prstGeom>
        </p:spPr>
        <p:txBody>
          <a:bodyPr lIns="0" tIns="0" rIns="0" bIns="0" rtlCol="0" anchor="t">
            <a:spAutoFit/>
          </a:bodyPr>
          <a:lstStyle/>
          <a:p>
            <a:pPr marL="0" lvl="1" indent="0" algn="ctr">
              <a:lnSpc>
                <a:spcPts val="10800"/>
              </a:lnSpc>
            </a:pPr>
            <a:r>
              <a:rPr lang="en-US" sz="12000" b="1" spc="-552">
                <a:solidFill>
                  <a:srgbClr val="00694C"/>
                </a:solidFill>
                <a:latin typeface="Raleway Medium"/>
                <a:ea typeface="Raleway Medium"/>
                <a:cs typeface="Raleway Medium"/>
                <a:sym typeface="Raleway Medium"/>
              </a:rPr>
              <a:t>02.</a:t>
            </a:r>
          </a:p>
        </p:txBody>
      </p:sp>
      <p:sp>
        <p:nvSpPr>
          <p:cNvPr id="14" name="TextBox 14"/>
          <p:cNvSpPr txBox="1"/>
          <p:nvPr/>
        </p:nvSpPr>
        <p:spPr>
          <a:xfrm>
            <a:off x="13402196" y="4475904"/>
            <a:ext cx="2420710" cy="1495425"/>
          </a:xfrm>
          <a:prstGeom prst="rect">
            <a:avLst/>
          </a:prstGeom>
        </p:spPr>
        <p:txBody>
          <a:bodyPr lIns="0" tIns="0" rIns="0" bIns="0" rtlCol="0" anchor="t">
            <a:spAutoFit/>
          </a:bodyPr>
          <a:lstStyle/>
          <a:p>
            <a:pPr marL="0" lvl="1" indent="0" algn="ctr">
              <a:lnSpc>
                <a:spcPts val="10800"/>
              </a:lnSpc>
            </a:pPr>
            <a:r>
              <a:rPr lang="en-US" sz="12000" b="1" spc="-552">
                <a:solidFill>
                  <a:srgbClr val="00694C"/>
                </a:solidFill>
                <a:latin typeface="Raleway Medium"/>
                <a:ea typeface="Raleway Medium"/>
                <a:cs typeface="Raleway Medium"/>
                <a:sym typeface="Raleway Medium"/>
              </a:rPr>
              <a:t>03.</a:t>
            </a:r>
          </a:p>
        </p:txBody>
      </p:sp>
      <p:sp>
        <p:nvSpPr>
          <p:cNvPr id="15" name="TextBox 15"/>
          <p:cNvSpPr txBox="1"/>
          <p:nvPr/>
        </p:nvSpPr>
        <p:spPr>
          <a:xfrm>
            <a:off x="7098229" y="6599008"/>
            <a:ext cx="4095146" cy="1573530"/>
          </a:xfrm>
          <a:prstGeom prst="rect">
            <a:avLst/>
          </a:prstGeom>
        </p:spPr>
        <p:txBody>
          <a:bodyPr lIns="0" tIns="0" rIns="0" bIns="0" rtlCol="0" anchor="t">
            <a:spAutoFit/>
          </a:bodyPr>
          <a:lstStyle/>
          <a:p>
            <a:pPr marL="388623" lvl="1" indent="-194312" algn="just">
              <a:lnSpc>
                <a:spcPts val="2520"/>
              </a:lnSpc>
              <a:buFont typeface="Arial"/>
              <a:buChar char="•"/>
            </a:pPr>
            <a:r>
              <a:rPr lang="en-US" sz="1800" b="1">
                <a:solidFill>
                  <a:srgbClr val="00694C"/>
                </a:solidFill>
                <a:latin typeface="Raleway Semi-Bold"/>
                <a:ea typeface="Raleway Semi-Bold"/>
                <a:cs typeface="Raleway Semi-Bold"/>
                <a:sym typeface="Raleway Semi-Bold"/>
              </a:rPr>
              <a:t>Alteryx Application</a:t>
            </a:r>
          </a:p>
          <a:p>
            <a:pPr marL="388623" lvl="1" indent="-194312" algn="just">
              <a:lnSpc>
                <a:spcPts val="2520"/>
              </a:lnSpc>
              <a:buFont typeface="Arial"/>
              <a:buChar char="•"/>
            </a:pPr>
            <a:r>
              <a:rPr lang="en-US" sz="1800" b="1">
                <a:solidFill>
                  <a:srgbClr val="00694C"/>
                </a:solidFill>
                <a:latin typeface="Raleway Semi-Bold"/>
                <a:ea typeface="Raleway Semi-Bold"/>
                <a:cs typeface="Raleway Semi-Bold"/>
                <a:sym typeface="Raleway Semi-Bold"/>
              </a:rPr>
              <a:t>Input data Tool</a:t>
            </a:r>
          </a:p>
          <a:p>
            <a:pPr marL="388623" lvl="1" indent="-194312" algn="just">
              <a:lnSpc>
                <a:spcPts val="2520"/>
              </a:lnSpc>
              <a:buFont typeface="Arial"/>
              <a:buChar char="•"/>
            </a:pPr>
            <a:r>
              <a:rPr lang="en-US" sz="1800" b="1">
                <a:solidFill>
                  <a:srgbClr val="00694C"/>
                </a:solidFill>
                <a:latin typeface="Raleway Semi-Bold"/>
                <a:ea typeface="Raleway Semi-Bold"/>
                <a:cs typeface="Raleway Semi-Bold"/>
                <a:sym typeface="Raleway Semi-Bold"/>
              </a:rPr>
              <a:t>data Cleansing Tool</a:t>
            </a:r>
          </a:p>
          <a:p>
            <a:pPr marL="388623" lvl="1" indent="-194312" algn="just">
              <a:lnSpc>
                <a:spcPts val="2520"/>
              </a:lnSpc>
              <a:buFont typeface="Arial"/>
              <a:buChar char="•"/>
            </a:pPr>
            <a:r>
              <a:rPr lang="en-US" sz="1800" b="1">
                <a:solidFill>
                  <a:srgbClr val="00694C"/>
                </a:solidFill>
                <a:latin typeface="Raleway Semi-Bold"/>
                <a:ea typeface="Raleway Semi-Bold"/>
                <a:cs typeface="Raleway Semi-Bold"/>
                <a:sym typeface="Raleway Semi-Bold"/>
              </a:rPr>
              <a:t>Select Tool</a:t>
            </a:r>
          </a:p>
          <a:p>
            <a:pPr marL="388623" lvl="1" indent="-194312" algn="just">
              <a:lnSpc>
                <a:spcPts val="2520"/>
              </a:lnSpc>
              <a:buFont typeface="Arial"/>
              <a:buChar char="•"/>
            </a:pPr>
            <a:r>
              <a:rPr lang="en-US" sz="1800" b="1">
                <a:solidFill>
                  <a:srgbClr val="00694C"/>
                </a:solidFill>
                <a:latin typeface="Raleway Semi-Bold"/>
                <a:ea typeface="Raleway Semi-Bold"/>
                <a:cs typeface="Raleway Semi-Bold"/>
                <a:sym typeface="Raleway Semi-Bold"/>
              </a:rPr>
              <a:t>Filter Tool</a:t>
            </a:r>
          </a:p>
        </p:txBody>
      </p:sp>
      <p:sp>
        <p:nvSpPr>
          <p:cNvPr id="16" name="TextBox 16"/>
          <p:cNvSpPr txBox="1"/>
          <p:nvPr/>
        </p:nvSpPr>
        <p:spPr>
          <a:xfrm>
            <a:off x="1631480" y="6041149"/>
            <a:ext cx="4095146" cy="793996"/>
          </a:xfrm>
          <a:prstGeom prst="rect">
            <a:avLst/>
          </a:prstGeom>
        </p:spPr>
        <p:txBody>
          <a:bodyPr lIns="0" tIns="0" rIns="0" bIns="0" rtlCol="0" anchor="t">
            <a:spAutoFit/>
          </a:bodyPr>
          <a:lstStyle/>
          <a:p>
            <a:pPr marL="0" lvl="1" indent="0" algn="ctr">
              <a:lnSpc>
                <a:spcPts val="2968"/>
              </a:lnSpc>
            </a:pPr>
            <a:r>
              <a:rPr lang="en-US" sz="3298" b="1" spc="-151">
                <a:solidFill>
                  <a:srgbClr val="00694C"/>
                </a:solidFill>
                <a:latin typeface="Raleway Medium"/>
                <a:ea typeface="Raleway Medium"/>
                <a:cs typeface="Raleway Medium"/>
                <a:sym typeface="Raleway Medium"/>
              </a:rPr>
              <a:t>Clean &amp; Preprocess Data </a:t>
            </a:r>
          </a:p>
        </p:txBody>
      </p:sp>
      <p:sp>
        <p:nvSpPr>
          <p:cNvPr id="17" name="TextBox 17"/>
          <p:cNvSpPr txBox="1"/>
          <p:nvPr/>
        </p:nvSpPr>
        <p:spPr>
          <a:xfrm>
            <a:off x="12562274" y="6132880"/>
            <a:ext cx="4095146" cy="416973"/>
          </a:xfrm>
          <a:prstGeom prst="rect">
            <a:avLst/>
          </a:prstGeom>
        </p:spPr>
        <p:txBody>
          <a:bodyPr lIns="0" tIns="0" rIns="0" bIns="0" rtlCol="0" anchor="t">
            <a:spAutoFit/>
          </a:bodyPr>
          <a:lstStyle/>
          <a:p>
            <a:pPr marL="0" lvl="1" indent="0" algn="ctr">
              <a:lnSpc>
                <a:spcPts val="2968"/>
              </a:lnSpc>
            </a:pPr>
            <a:r>
              <a:rPr lang="en-US" sz="3298" b="1" spc="-151">
                <a:solidFill>
                  <a:srgbClr val="00694C"/>
                </a:solidFill>
                <a:latin typeface="Raleway Medium"/>
                <a:ea typeface="Raleway Medium"/>
                <a:cs typeface="Raleway Medium"/>
                <a:sym typeface="Raleway Medium"/>
              </a:rPr>
              <a:t>Data Cleansing steps</a:t>
            </a:r>
          </a:p>
        </p:txBody>
      </p:sp>
      <p:sp>
        <p:nvSpPr>
          <p:cNvPr id="18" name="TextBox 18"/>
          <p:cNvSpPr txBox="1"/>
          <p:nvPr/>
        </p:nvSpPr>
        <p:spPr>
          <a:xfrm>
            <a:off x="7096427" y="6143357"/>
            <a:ext cx="4095146" cy="416973"/>
          </a:xfrm>
          <a:prstGeom prst="rect">
            <a:avLst/>
          </a:prstGeom>
        </p:spPr>
        <p:txBody>
          <a:bodyPr lIns="0" tIns="0" rIns="0" bIns="0" rtlCol="0" anchor="t">
            <a:spAutoFit/>
          </a:bodyPr>
          <a:lstStyle/>
          <a:p>
            <a:pPr marL="0" lvl="1" indent="0" algn="ctr">
              <a:lnSpc>
                <a:spcPts val="2968"/>
              </a:lnSpc>
            </a:pPr>
            <a:r>
              <a:rPr lang="en-US" sz="3298" b="1" spc="-151">
                <a:solidFill>
                  <a:srgbClr val="00694C"/>
                </a:solidFill>
                <a:latin typeface="Raleway Medium"/>
                <a:ea typeface="Raleway Medium"/>
                <a:cs typeface="Raleway Medium"/>
                <a:sym typeface="Raleway Medium"/>
              </a:rPr>
              <a:t>Application &amp; Tools </a:t>
            </a:r>
          </a:p>
        </p:txBody>
      </p:sp>
      <p:sp>
        <p:nvSpPr>
          <p:cNvPr id="19" name="TextBox 19"/>
          <p:cNvSpPr txBox="1"/>
          <p:nvPr/>
        </p:nvSpPr>
        <p:spPr>
          <a:xfrm>
            <a:off x="12705480" y="6599008"/>
            <a:ext cx="4095146" cy="1887855"/>
          </a:xfrm>
          <a:prstGeom prst="rect">
            <a:avLst/>
          </a:prstGeom>
        </p:spPr>
        <p:txBody>
          <a:bodyPr lIns="0" tIns="0" rIns="0" bIns="0" rtlCol="0" anchor="t">
            <a:spAutoFit/>
          </a:bodyPr>
          <a:lstStyle/>
          <a:p>
            <a:pPr marL="388623" lvl="1" indent="-194312" algn="just">
              <a:lnSpc>
                <a:spcPts val="2520"/>
              </a:lnSpc>
              <a:buFont typeface="Arial"/>
              <a:buChar char="•"/>
            </a:pPr>
            <a:r>
              <a:rPr lang="en-US" sz="1800" b="1">
                <a:solidFill>
                  <a:srgbClr val="00694C"/>
                </a:solidFill>
                <a:latin typeface="Raleway Semi-Bold"/>
                <a:ea typeface="Raleway Semi-Bold"/>
                <a:cs typeface="Raleway Semi-Bold"/>
                <a:sym typeface="Raleway Semi-Bold"/>
              </a:rPr>
              <a:t>Removes null values</a:t>
            </a:r>
          </a:p>
          <a:p>
            <a:pPr marL="388623" lvl="1" indent="-194312" algn="just">
              <a:lnSpc>
                <a:spcPts val="2520"/>
              </a:lnSpc>
              <a:buFont typeface="Arial"/>
              <a:buChar char="•"/>
            </a:pPr>
            <a:r>
              <a:rPr lang="en-US" sz="1800" b="1">
                <a:solidFill>
                  <a:srgbClr val="00694C"/>
                </a:solidFill>
                <a:latin typeface="Raleway Semi-Bold"/>
                <a:ea typeface="Raleway Semi-Bold"/>
                <a:cs typeface="Raleway Semi-Bold"/>
                <a:sym typeface="Raleway Semi-Bold"/>
              </a:rPr>
              <a:t>Removes Missing values</a:t>
            </a:r>
          </a:p>
          <a:p>
            <a:pPr marL="388623" lvl="1" indent="-194312" algn="just">
              <a:lnSpc>
                <a:spcPts val="2520"/>
              </a:lnSpc>
              <a:buFont typeface="Arial"/>
              <a:buChar char="•"/>
            </a:pPr>
            <a:r>
              <a:rPr lang="en-US" sz="1800" b="1">
                <a:solidFill>
                  <a:srgbClr val="00694C"/>
                </a:solidFill>
                <a:latin typeface="Raleway Semi-Bold"/>
                <a:ea typeface="Raleway Semi-Bold"/>
                <a:cs typeface="Raleway Semi-Bold"/>
                <a:sym typeface="Raleway Semi-Bold"/>
              </a:rPr>
              <a:t>Removes white Spaces</a:t>
            </a:r>
          </a:p>
          <a:p>
            <a:pPr marL="388623" lvl="1" indent="-194312" algn="just">
              <a:lnSpc>
                <a:spcPts val="2520"/>
              </a:lnSpc>
              <a:buFont typeface="Arial"/>
              <a:buChar char="•"/>
            </a:pPr>
            <a:r>
              <a:rPr lang="en-US" sz="1800" b="1">
                <a:solidFill>
                  <a:srgbClr val="00694C"/>
                </a:solidFill>
                <a:latin typeface="Raleway Semi-Bold"/>
                <a:ea typeface="Raleway Semi-Bold"/>
                <a:cs typeface="Raleway Semi-Bold"/>
                <a:sym typeface="Raleway Semi-Bold"/>
              </a:rPr>
              <a:t>Select and removes the records if they are unneccesary</a:t>
            </a:r>
          </a:p>
          <a:p>
            <a:pPr algn="just">
              <a:lnSpc>
                <a:spcPts val="2520"/>
              </a:lnSpc>
            </a:pPr>
            <a:endParaRPr lang="en-US" sz="1800" b="1">
              <a:solidFill>
                <a:srgbClr val="00694C"/>
              </a:solidFill>
              <a:latin typeface="Raleway Semi-Bold"/>
              <a:ea typeface="Raleway Semi-Bold"/>
              <a:cs typeface="Raleway Semi-Bold"/>
              <a:sym typeface="Raleway Semi-Bold"/>
            </a:endParaRPr>
          </a:p>
        </p:txBody>
      </p:sp>
      <p:sp>
        <p:nvSpPr>
          <p:cNvPr id="20" name="TextBox 20"/>
          <p:cNvSpPr txBox="1"/>
          <p:nvPr/>
        </p:nvSpPr>
        <p:spPr>
          <a:xfrm>
            <a:off x="1631480" y="6787520"/>
            <a:ext cx="4095146" cy="1887855"/>
          </a:xfrm>
          <a:prstGeom prst="rect">
            <a:avLst/>
          </a:prstGeom>
        </p:spPr>
        <p:txBody>
          <a:bodyPr lIns="0" tIns="0" rIns="0" bIns="0" rtlCol="0" anchor="t">
            <a:spAutoFit/>
          </a:bodyPr>
          <a:lstStyle/>
          <a:p>
            <a:pPr marL="388623" lvl="1" indent="-194312" algn="just">
              <a:lnSpc>
                <a:spcPts val="2520"/>
              </a:lnSpc>
              <a:buFont typeface="Arial"/>
              <a:buChar char="•"/>
            </a:pPr>
            <a:r>
              <a:rPr lang="en-US" sz="1800" b="1">
                <a:solidFill>
                  <a:srgbClr val="00694C"/>
                </a:solidFill>
                <a:latin typeface="Raleway Semi-Bold"/>
                <a:ea typeface="Raleway Semi-Bold"/>
                <a:cs typeface="Raleway Semi-Bold"/>
                <a:sym typeface="Raleway Semi-Bold"/>
              </a:rPr>
              <a:t>Handle missing values, outliers, and inconsistencies to improve data quality. </a:t>
            </a:r>
          </a:p>
          <a:p>
            <a:pPr marL="388623" lvl="1" indent="-194312" algn="just">
              <a:lnSpc>
                <a:spcPts val="2520"/>
              </a:lnSpc>
              <a:buFont typeface="Arial"/>
              <a:buChar char="•"/>
            </a:pPr>
            <a:r>
              <a:rPr lang="en-US" sz="1800" b="1" i="1">
                <a:solidFill>
                  <a:srgbClr val="00694C"/>
                </a:solidFill>
                <a:latin typeface="Raleway Semi-Bold Italics"/>
                <a:ea typeface="Raleway Semi-Bold Italics"/>
                <a:cs typeface="Raleway Semi-Bold Italics"/>
                <a:sym typeface="Raleway Semi-Bold Italics"/>
              </a:rPr>
              <a:t>Example: Impute missing values in blood pressure data using statistical methods.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4F6EC"/>
        </a:solidFill>
        <a:effectLst/>
      </p:bgPr>
    </p:bg>
    <p:spTree>
      <p:nvGrpSpPr>
        <p:cNvPr id="1" name=""/>
        <p:cNvGrpSpPr/>
        <p:nvPr/>
      </p:nvGrpSpPr>
      <p:grpSpPr>
        <a:xfrm>
          <a:off x="0" y="0"/>
          <a:ext cx="0" cy="0"/>
          <a:chOff x="0" y="0"/>
          <a:chExt cx="0" cy="0"/>
        </a:xfrm>
      </p:grpSpPr>
      <p:sp>
        <p:nvSpPr>
          <p:cNvPr id="2" name="Freeform 2"/>
          <p:cNvSpPr/>
          <p:nvPr/>
        </p:nvSpPr>
        <p:spPr>
          <a:xfrm>
            <a:off x="785573" y="1898357"/>
            <a:ext cx="16754955" cy="8115681"/>
          </a:xfrm>
          <a:custGeom>
            <a:avLst/>
            <a:gdLst/>
            <a:ahLst/>
            <a:cxnLst/>
            <a:rect l="l" t="t" r="r" b="b"/>
            <a:pathLst>
              <a:path w="16754955" h="8115681">
                <a:moveTo>
                  <a:pt x="0" y="0"/>
                </a:moveTo>
                <a:lnTo>
                  <a:pt x="16754954" y="0"/>
                </a:lnTo>
                <a:lnTo>
                  <a:pt x="16754954" y="8115681"/>
                </a:lnTo>
                <a:lnTo>
                  <a:pt x="0" y="8115681"/>
                </a:lnTo>
                <a:lnTo>
                  <a:pt x="0" y="0"/>
                </a:lnTo>
                <a:close/>
              </a:path>
            </a:pathLst>
          </a:custGeom>
          <a:blipFill>
            <a:blip r:embed="rId2"/>
            <a:stretch>
              <a:fillRect/>
            </a:stretch>
          </a:blipFill>
        </p:spPr>
      </p:sp>
      <p:sp>
        <p:nvSpPr>
          <p:cNvPr id="3" name="TextBox 3"/>
          <p:cNvSpPr txBox="1"/>
          <p:nvPr/>
        </p:nvSpPr>
        <p:spPr>
          <a:xfrm>
            <a:off x="4716117" y="395425"/>
            <a:ext cx="10565953" cy="877328"/>
          </a:xfrm>
          <a:prstGeom prst="rect">
            <a:avLst/>
          </a:prstGeom>
        </p:spPr>
        <p:txBody>
          <a:bodyPr lIns="0" tIns="0" rIns="0" bIns="0" rtlCol="0" anchor="t">
            <a:spAutoFit/>
          </a:bodyPr>
          <a:lstStyle/>
          <a:p>
            <a:pPr marL="0" lvl="1" indent="0" algn="l">
              <a:lnSpc>
                <a:spcPts val="6324"/>
              </a:lnSpc>
            </a:pPr>
            <a:r>
              <a:rPr lang="en-US" sz="7026" b="1" spc="-323">
                <a:solidFill>
                  <a:srgbClr val="00694C"/>
                </a:solidFill>
                <a:latin typeface="Raleway Medium"/>
                <a:ea typeface="Raleway Medium"/>
                <a:cs typeface="Raleway Medium"/>
                <a:sym typeface="Raleway Medium"/>
              </a:rPr>
              <a:t>DATA PRE-PROCESSING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4F6EC"/>
        </a:solidFill>
        <a:effectLst/>
      </p:bgPr>
    </p:bg>
    <p:spTree>
      <p:nvGrpSpPr>
        <p:cNvPr id="1" name=""/>
        <p:cNvGrpSpPr/>
        <p:nvPr/>
      </p:nvGrpSpPr>
      <p:grpSpPr>
        <a:xfrm>
          <a:off x="0" y="0"/>
          <a:ext cx="0" cy="0"/>
          <a:chOff x="0" y="0"/>
          <a:chExt cx="0" cy="0"/>
        </a:xfrm>
      </p:grpSpPr>
      <p:sp>
        <p:nvSpPr>
          <p:cNvPr id="2" name="Freeform 2"/>
          <p:cNvSpPr/>
          <p:nvPr/>
        </p:nvSpPr>
        <p:spPr>
          <a:xfrm>
            <a:off x="1227413" y="2265393"/>
            <a:ext cx="16230600" cy="7697932"/>
          </a:xfrm>
          <a:custGeom>
            <a:avLst/>
            <a:gdLst/>
            <a:ahLst/>
            <a:cxnLst/>
            <a:rect l="l" t="t" r="r" b="b"/>
            <a:pathLst>
              <a:path w="16230600" h="7697932">
                <a:moveTo>
                  <a:pt x="0" y="0"/>
                </a:moveTo>
                <a:lnTo>
                  <a:pt x="16230600" y="0"/>
                </a:lnTo>
                <a:lnTo>
                  <a:pt x="16230600" y="7697932"/>
                </a:lnTo>
                <a:lnTo>
                  <a:pt x="0" y="7697932"/>
                </a:lnTo>
                <a:lnTo>
                  <a:pt x="0" y="0"/>
                </a:lnTo>
                <a:close/>
              </a:path>
            </a:pathLst>
          </a:custGeom>
          <a:blipFill>
            <a:blip r:embed="rId2"/>
            <a:stretch>
              <a:fillRect t="-683" b="-620"/>
            </a:stretch>
          </a:blipFill>
        </p:spPr>
      </p:sp>
      <p:sp>
        <p:nvSpPr>
          <p:cNvPr id="3" name="TextBox 3"/>
          <p:cNvSpPr txBox="1"/>
          <p:nvPr/>
        </p:nvSpPr>
        <p:spPr>
          <a:xfrm>
            <a:off x="3918338" y="389542"/>
            <a:ext cx="10864462" cy="900188"/>
          </a:xfrm>
          <a:prstGeom prst="rect">
            <a:avLst/>
          </a:prstGeom>
        </p:spPr>
        <p:txBody>
          <a:bodyPr lIns="0" tIns="0" rIns="0" bIns="0" rtlCol="0" anchor="t">
            <a:spAutoFit/>
          </a:bodyPr>
          <a:lstStyle/>
          <a:p>
            <a:pPr marL="0" lvl="1" indent="0" algn="ctr">
              <a:lnSpc>
                <a:spcPts val="6414"/>
              </a:lnSpc>
            </a:pPr>
            <a:r>
              <a:rPr lang="en-US" sz="7126" b="1" spc="-327">
                <a:solidFill>
                  <a:srgbClr val="00694C"/>
                </a:solidFill>
                <a:latin typeface="Raleway Medium"/>
                <a:ea typeface="Raleway Medium"/>
                <a:cs typeface="Raleway Medium"/>
                <a:sym typeface="Raleway Medium"/>
              </a:rPr>
              <a:t>DATA PRE-PROCESSING</a:t>
            </a:r>
          </a:p>
        </p:txBody>
      </p:sp>
      <p:sp>
        <p:nvSpPr>
          <p:cNvPr id="4" name="TextBox 4"/>
          <p:cNvSpPr txBox="1"/>
          <p:nvPr/>
        </p:nvSpPr>
        <p:spPr>
          <a:xfrm>
            <a:off x="5687045" y="1188828"/>
            <a:ext cx="6913909" cy="588733"/>
          </a:xfrm>
          <a:prstGeom prst="rect">
            <a:avLst/>
          </a:prstGeom>
        </p:spPr>
        <p:txBody>
          <a:bodyPr wrap="square" lIns="0" tIns="0" rIns="0" bIns="0" rtlCol="0" anchor="t">
            <a:spAutoFit/>
          </a:bodyPr>
          <a:lstStyle/>
          <a:p>
            <a:pPr algn="ctr">
              <a:lnSpc>
                <a:spcPts val="4799"/>
              </a:lnSpc>
            </a:pPr>
            <a:r>
              <a:rPr lang="en-US" sz="3428" dirty="0">
                <a:solidFill>
                  <a:srgbClr val="00694C"/>
                </a:solidFill>
                <a:latin typeface="Atkinson Hyperlegible"/>
                <a:ea typeface="Atkinson Hyperlegible"/>
                <a:cs typeface="Atkinson Hyperlegible"/>
                <a:sym typeface="Atkinson Hyperlegible"/>
              </a:rPr>
              <a:t>After Sorting &amp; </a:t>
            </a:r>
            <a:r>
              <a:rPr lang="en-US" sz="3428" dirty="0" err="1">
                <a:solidFill>
                  <a:srgbClr val="00694C"/>
                </a:solidFill>
                <a:latin typeface="Atkinson Hyperlegible"/>
                <a:ea typeface="Atkinson Hyperlegible"/>
                <a:cs typeface="Atkinson Hyperlegible"/>
                <a:sym typeface="Atkinson Hyperlegible"/>
              </a:rPr>
              <a:t>Filltering</a:t>
            </a:r>
            <a:r>
              <a:rPr lang="en-US" sz="3428" dirty="0">
                <a:solidFill>
                  <a:srgbClr val="00694C"/>
                </a:solidFill>
                <a:latin typeface="Atkinson Hyperlegible"/>
                <a:ea typeface="Atkinson Hyperlegible"/>
                <a:cs typeface="Atkinson Hyperlegible"/>
                <a:sym typeface="Atkinson Hyperlegible"/>
              </a:rPr>
              <a:t> the Data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4F6EC"/>
        </a:solidFill>
        <a:effectLst/>
      </p:bgPr>
    </p:bg>
    <p:spTree>
      <p:nvGrpSpPr>
        <p:cNvPr id="1" name=""/>
        <p:cNvGrpSpPr/>
        <p:nvPr/>
      </p:nvGrpSpPr>
      <p:grpSpPr>
        <a:xfrm>
          <a:off x="0" y="0"/>
          <a:ext cx="0" cy="0"/>
          <a:chOff x="0" y="0"/>
          <a:chExt cx="0" cy="0"/>
        </a:xfrm>
      </p:grpSpPr>
      <p:sp>
        <p:nvSpPr>
          <p:cNvPr id="2" name="Freeform 2"/>
          <p:cNvSpPr/>
          <p:nvPr/>
        </p:nvSpPr>
        <p:spPr>
          <a:xfrm>
            <a:off x="1832949" y="2358634"/>
            <a:ext cx="15122214" cy="7599094"/>
          </a:xfrm>
          <a:custGeom>
            <a:avLst/>
            <a:gdLst/>
            <a:ahLst/>
            <a:cxnLst/>
            <a:rect l="l" t="t" r="r" b="b"/>
            <a:pathLst>
              <a:path w="15122214" h="7599094">
                <a:moveTo>
                  <a:pt x="0" y="0"/>
                </a:moveTo>
                <a:lnTo>
                  <a:pt x="15122214" y="0"/>
                </a:lnTo>
                <a:lnTo>
                  <a:pt x="15122214" y="7599094"/>
                </a:lnTo>
                <a:lnTo>
                  <a:pt x="0" y="7599094"/>
                </a:lnTo>
                <a:lnTo>
                  <a:pt x="0" y="0"/>
                </a:lnTo>
                <a:close/>
              </a:path>
            </a:pathLst>
          </a:custGeom>
          <a:blipFill>
            <a:blip r:embed="rId2"/>
            <a:stretch>
              <a:fillRect t="-4748" b="-7188"/>
            </a:stretch>
          </a:blipFill>
        </p:spPr>
      </p:sp>
      <p:sp>
        <p:nvSpPr>
          <p:cNvPr id="3" name="TextBox 3"/>
          <p:cNvSpPr txBox="1"/>
          <p:nvPr/>
        </p:nvSpPr>
        <p:spPr>
          <a:xfrm>
            <a:off x="3560244" y="470868"/>
            <a:ext cx="11167513" cy="1000902"/>
          </a:xfrm>
          <a:prstGeom prst="rect">
            <a:avLst/>
          </a:prstGeom>
        </p:spPr>
        <p:txBody>
          <a:bodyPr lIns="0" tIns="0" rIns="0" bIns="0" rtlCol="0" anchor="t">
            <a:spAutoFit/>
          </a:bodyPr>
          <a:lstStyle/>
          <a:p>
            <a:pPr marL="0" lvl="1" indent="0" algn="ctr">
              <a:lnSpc>
                <a:spcPts val="7283"/>
              </a:lnSpc>
            </a:pPr>
            <a:r>
              <a:rPr lang="en-US" sz="8092" b="1" spc="-372">
                <a:solidFill>
                  <a:srgbClr val="00694C"/>
                </a:solidFill>
                <a:latin typeface="Raleway Medium"/>
                <a:ea typeface="Raleway Medium"/>
                <a:cs typeface="Raleway Medium"/>
                <a:sym typeface="Raleway Medium"/>
              </a:rPr>
              <a:t>DATA VISUALIZATION</a:t>
            </a:r>
          </a:p>
        </p:txBody>
      </p:sp>
      <p:sp>
        <p:nvSpPr>
          <p:cNvPr id="4" name="TextBox 4"/>
          <p:cNvSpPr txBox="1"/>
          <p:nvPr/>
        </p:nvSpPr>
        <p:spPr>
          <a:xfrm>
            <a:off x="2594897" y="1547969"/>
            <a:ext cx="13465603" cy="434151"/>
          </a:xfrm>
          <a:prstGeom prst="rect">
            <a:avLst/>
          </a:prstGeom>
        </p:spPr>
        <p:txBody>
          <a:bodyPr lIns="0" tIns="0" rIns="0" bIns="0" rtlCol="0" anchor="t">
            <a:spAutoFit/>
          </a:bodyPr>
          <a:lstStyle/>
          <a:p>
            <a:pPr marL="0" lvl="1" indent="0" algn="ctr">
              <a:lnSpc>
                <a:spcPts val="3055"/>
              </a:lnSpc>
            </a:pPr>
            <a:r>
              <a:rPr lang="en-US" sz="3395" b="1" spc="-156">
                <a:solidFill>
                  <a:srgbClr val="00694C"/>
                </a:solidFill>
                <a:latin typeface="Raleway Medium"/>
                <a:ea typeface="Raleway Medium"/>
                <a:cs typeface="Raleway Medium"/>
                <a:sym typeface="Raleway Medium"/>
              </a:rPr>
              <a:t>Representing data graphically to make it easier to analyze, understand.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4F6EC"/>
        </a:solidFill>
        <a:effectLst/>
      </p:bgPr>
    </p:bg>
    <p:spTree>
      <p:nvGrpSpPr>
        <p:cNvPr id="1" name=""/>
        <p:cNvGrpSpPr/>
        <p:nvPr/>
      </p:nvGrpSpPr>
      <p:grpSpPr>
        <a:xfrm>
          <a:off x="0" y="0"/>
          <a:ext cx="0" cy="0"/>
          <a:chOff x="0" y="0"/>
          <a:chExt cx="0" cy="0"/>
        </a:xfrm>
      </p:grpSpPr>
      <p:sp>
        <p:nvSpPr>
          <p:cNvPr id="2" name="TextBox 2"/>
          <p:cNvSpPr txBox="1"/>
          <p:nvPr/>
        </p:nvSpPr>
        <p:spPr>
          <a:xfrm>
            <a:off x="3712644" y="621894"/>
            <a:ext cx="11167513" cy="1003649"/>
          </a:xfrm>
          <a:prstGeom prst="rect">
            <a:avLst/>
          </a:prstGeom>
        </p:spPr>
        <p:txBody>
          <a:bodyPr lIns="0" tIns="0" rIns="0" bIns="0" rtlCol="0" anchor="t">
            <a:spAutoFit/>
          </a:bodyPr>
          <a:lstStyle/>
          <a:p>
            <a:pPr marL="0" lvl="1" indent="0" algn="ctr">
              <a:lnSpc>
                <a:spcPts val="7283"/>
              </a:lnSpc>
            </a:pPr>
            <a:r>
              <a:rPr lang="en-US" sz="8092" b="1" spc="-372">
                <a:solidFill>
                  <a:srgbClr val="00694C"/>
                </a:solidFill>
                <a:latin typeface="Raleway Medium"/>
                <a:ea typeface="Raleway Medium"/>
                <a:cs typeface="Raleway Medium"/>
                <a:sym typeface="Raleway Medium"/>
              </a:rPr>
              <a:t>Analysis of visualization</a:t>
            </a:r>
          </a:p>
        </p:txBody>
      </p:sp>
      <p:sp>
        <p:nvSpPr>
          <p:cNvPr id="3" name="TextBox 3"/>
          <p:cNvSpPr txBox="1"/>
          <p:nvPr/>
        </p:nvSpPr>
        <p:spPr>
          <a:xfrm>
            <a:off x="195686" y="1881351"/>
            <a:ext cx="4897630" cy="663769"/>
          </a:xfrm>
          <a:prstGeom prst="rect">
            <a:avLst/>
          </a:prstGeom>
        </p:spPr>
        <p:txBody>
          <a:bodyPr lIns="0" tIns="0" rIns="0" bIns="0" rtlCol="0" anchor="t">
            <a:spAutoFit/>
          </a:bodyPr>
          <a:lstStyle/>
          <a:p>
            <a:pPr algn="ctr">
              <a:lnSpc>
                <a:spcPts val="5414"/>
              </a:lnSpc>
            </a:pPr>
            <a:r>
              <a:rPr lang="en-US" sz="3867" b="1">
                <a:solidFill>
                  <a:srgbClr val="00694C"/>
                </a:solidFill>
                <a:latin typeface="Raleway Bold"/>
                <a:ea typeface="Raleway Bold"/>
                <a:cs typeface="Raleway Bold"/>
                <a:sym typeface="Raleway Bold"/>
              </a:rPr>
              <a:t>Healthcare dataset:</a:t>
            </a:r>
          </a:p>
        </p:txBody>
      </p:sp>
      <p:sp>
        <p:nvSpPr>
          <p:cNvPr id="4" name="TextBox 4"/>
          <p:cNvSpPr txBox="1"/>
          <p:nvPr/>
        </p:nvSpPr>
        <p:spPr>
          <a:xfrm>
            <a:off x="195686" y="5486837"/>
            <a:ext cx="5036010" cy="639608"/>
          </a:xfrm>
          <a:prstGeom prst="rect">
            <a:avLst/>
          </a:prstGeom>
        </p:spPr>
        <p:txBody>
          <a:bodyPr lIns="0" tIns="0" rIns="0" bIns="0" rtlCol="0" anchor="t">
            <a:spAutoFit/>
          </a:bodyPr>
          <a:lstStyle/>
          <a:p>
            <a:pPr algn="ctr">
              <a:lnSpc>
                <a:spcPts val="5170"/>
              </a:lnSpc>
            </a:pPr>
            <a:r>
              <a:rPr lang="en-US" sz="3693" b="1">
                <a:solidFill>
                  <a:srgbClr val="00694C"/>
                </a:solidFill>
                <a:latin typeface="Raleway Bold"/>
                <a:ea typeface="Raleway Bold"/>
                <a:cs typeface="Raleway Bold"/>
                <a:sym typeface="Raleway Bold"/>
              </a:rPr>
              <a:t>Environment dataset:</a:t>
            </a:r>
          </a:p>
        </p:txBody>
      </p:sp>
      <p:sp>
        <p:nvSpPr>
          <p:cNvPr id="5" name="TextBox 5"/>
          <p:cNvSpPr txBox="1"/>
          <p:nvPr/>
        </p:nvSpPr>
        <p:spPr>
          <a:xfrm>
            <a:off x="337577" y="6431246"/>
            <a:ext cx="16582291" cy="2891663"/>
          </a:xfrm>
          <a:prstGeom prst="rect">
            <a:avLst/>
          </a:prstGeom>
        </p:spPr>
        <p:txBody>
          <a:bodyPr lIns="0" tIns="0" rIns="0" bIns="0" rtlCol="0" anchor="t">
            <a:spAutoFit/>
          </a:bodyPr>
          <a:lstStyle/>
          <a:p>
            <a:pPr marL="600203" lvl="1" indent="-300101" algn="l">
              <a:lnSpc>
                <a:spcPts val="3892"/>
              </a:lnSpc>
              <a:buFont typeface="Arial"/>
              <a:buChar char="•"/>
            </a:pPr>
            <a:r>
              <a:rPr lang="en-US" sz="2780">
                <a:solidFill>
                  <a:srgbClr val="00694C"/>
                </a:solidFill>
                <a:latin typeface="Canva Sans"/>
                <a:ea typeface="Canva Sans"/>
                <a:cs typeface="Canva Sans"/>
                <a:sym typeface="Canva Sans"/>
              </a:rPr>
              <a:t>A visualization of SPM pollution levels by location would illustrate the distribution of particulate matter across different areas. </a:t>
            </a:r>
          </a:p>
          <a:p>
            <a:pPr marL="600203" lvl="1" indent="-300101" algn="l">
              <a:lnSpc>
                <a:spcPts val="3892"/>
              </a:lnSpc>
              <a:buFont typeface="Arial"/>
              <a:buChar char="•"/>
            </a:pPr>
            <a:r>
              <a:rPr lang="en-US" sz="2780">
                <a:solidFill>
                  <a:srgbClr val="00694C"/>
                </a:solidFill>
                <a:latin typeface="Canva Sans"/>
                <a:ea typeface="Canva Sans"/>
                <a:cs typeface="Canva Sans"/>
                <a:sym typeface="Canva Sans"/>
              </a:rPr>
              <a:t>The x-axis would represent the locations, while the y-axis would show the corresponding SPM concentrations. </a:t>
            </a:r>
          </a:p>
          <a:p>
            <a:pPr marL="600203" lvl="1" indent="-300101" algn="l">
              <a:lnSpc>
                <a:spcPts val="3892"/>
              </a:lnSpc>
              <a:buFont typeface="Arial"/>
              <a:buChar char="•"/>
            </a:pPr>
            <a:r>
              <a:rPr lang="en-US" sz="2780">
                <a:solidFill>
                  <a:srgbClr val="00694C"/>
                </a:solidFill>
                <a:latin typeface="Canva Sans"/>
                <a:ea typeface="Canva Sans"/>
                <a:cs typeface="Canva Sans"/>
                <a:sym typeface="Canva Sans"/>
              </a:rPr>
              <a:t>This graph would enable a clear comparison of pollution levels in various regions.</a:t>
            </a:r>
          </a:p>
          <a:p>
            <a:pPr marL="600203" lvl="1" indent="-300101" algn="l">
              <a:lnSpc>
                <a:spcPts val="3892"/>
              </a:lnSpc>
              <a:buFont typeface="Arial"/>
              <a:buChar char="•"/>
            </a:pPr>
            <a:r>
              <a:rPr lang="en-US" sz="2780">
                <a:solidFill>
                  <a:srgbClr val="00694C"/>
                </a:solidFill>
                <a:latin typeface="Canva Sans"/>
                <a:ea typeface="Canva Sans"/>
                <a:cs typeface="Canva Sans"/>
                <a:sym typeface="Canva Sans"/>
              </a:rPr>
              <a:t>In this visualization highest polluted locations are Guwahathi, Hyderabad, Delhi &amp;Vizag</a:t>
            </a:r>
          </a:p>
        </p:txBody>
      </p:sp>
      <p:sp>
        <p:nvSpPr>
          <p:cNvPr id="6" name="TextBox 6"/>
          <p:cNvSpPr txBox="1"/>
          <p:nvPr/>
        </p:nvSpPr>
        <p:spPr>
          <a:xfrm>
            <a:off x="337577" y="2814368"/>
            <a:ext cx="16921723" cy="2405770"/>
          </a:xfrm>
          <a:prstGeom prst="rect">
            <a:avLst/>
          </a:prstGeom>
        </p:spPr>
        <p:txBody>
          <a:bodyPr lIns="0" tIns="0" rIns="0" bIns="0" rtlCol="0" anchor="t">
            <a:spAutoFit/>
          </a:bodyPr>
          <a:lstStyle/>
          <a:p>
            <a:pPr marL="601206" lvl="1" indent="-300603" algn="l">
              <a:lnSpc>
                <a:spcPts val="3898"/>
              </a:lnSpc>
              <a:buFont typeface="Arial"/>
              <a:buChar char="•"/>
            </a:pPr>
            <a:r>
              <a:rPr lang="en-US" sz="2784">
                <a:solidFill>
                  <a:srgbClr val="00694C"/>
                </a:solidFill>
                <a:latin typeface="Canva Sans"/>
                <a:ea typeface="Canva Sans"/>
                <a:cs typeface="Canva Sans"/>
                <a:sym typeface="Canva Sans"/>
              </a:rPr>
              <a:t>A count of medical conditions by age would show the number of people with various health issues at different age groups. </a:t>
            </a:r>
          </a:p>
          <a:p>
            <a:pPr marL="601206" lvl="1" indent="-300603" algn="l">
              <a:lnSpc>
                <a:spcPts val="3898"/>
              </a:lnSpc>
              <a:buFont typeface="Arial"/>
              <a:buChar char="•"/>
            </a:pPr>
            <a:r>
              <a:rPr lang="en-US" sz="2784">
                <a:solidFill>
                  <a:srgbClr val="00694C"/>
                </a:solidFill>
                <a:latin typeface="Canva Sans"/>
                <a:ea typeface="Canva Sans"/>
                <a:cs typeface="Canva Sans"/>
                <a:sym typeface="Canva Sans"/>
              </a:rPr>
              <a:t>On the x-axis, you would see the age ranges, and on the y-axis, you would observe the frequency of each medical condition within those age groups.</a:t>
            </a:r>
          </a:p>
          <a:p>
            <a:pPr marL="601206" lvl="1" indent="-300603" algn="l">
              <a:lnSpc>
                <a:spcPts val="3898"/>
              </a:lnSpc>
              <a:buFont typeface="Arial"/>
              <a:buChar char="•"/>
            </a:pPr>
            <a:r>
              <a:rPr lang="en-US" sz="2784">
                <a:solidFill>
                  <a:srgbClr val="00694C"/>
                </a:solidFill>
                <a:latin typeface="Canva Sans"/>
                <a:ea typeface="Canva Sans"/>
                <a:cs typeface="Canva Sans"/>
                <a:sym typeface="Canva Sans"/>
              </a:rPr>
              <a:t>In our visualization mostly 19-30 and 60-65 age group people have huge medical condition</a:t>
            </a:r>
          </a:p>
        </p:txBody>
      </p:sp>
      <p:sp>
        <p:nvSpPr>
          <p:cNvPr id="7" name="Freeform 7"/>
          <p:cNvSpPr/>
          <p:nvPr/>
        </p:nvSpPr>
        <p:spPr>
          <a:xfrm flipH="1">
            <a:off x="15670943" y="8319893"/>
            <a:ext cx="2732093" cy="1967107"/>
          </a:xfrm>
          <a:custGeom>
            <a:avLst/>
            <a:gdLst/>
            <a:ahLst/>
            <a:cxnLst/>
            <a:rect l="l" t="t" r="r" b="b"/>
            <a:pathLst>
              <a:path w="2732093" h="1967107">
                <a:moveTo>
                  <a:pt x="2732093" y="0"/>
                </a:moveTo>
                <a:lnTo>
                  <a:pt x="0" y="0"/>
                </a:lnTo>
                <a:lnTo>
                  <a:pt x="0" y="1967107"/>
                </a:lnTo>
                <a:lnTo>
                  <a:pt x="2732093" y="1967107"/>
                </a:lnTo>
                <a:lnTo>
                  <a:pt x="2732093"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4F6EC"/>
        </a:solidFill>
        <a:effectLst/>
      </p:bgPr>
    </p:bg>
    <p:spTree>
      <p:nvGrpSpPr>
        <p:cNvPr id="1" name=""/>
        <p:cNvGrpSpPr/>
        <p:nvPr/>
      </p:nvGrpSpPr>
      <p:grpSpPr>
        <a:xfrm>
          <a:off x="0" y="0"/>
          <a:ext cx="0" cy="0"/>
          <a:chOff x="0" y="0"/>
          <a:chExt cx="0" cy="0"/>
        </a:xfrm>
      </p:grpSpPr>
      <p:sp>
        <p:nvSpPr>
          <p:cNvPr id="2" name="Freeform 2"/>
          <p:cNvSpPr/>
          <p:nvPr/>
        </p:nvSpPr>
        <p:spPr>
          <a:xfrm>
            <a:off x="14119170" y="6813385"/>
            <a:ext cx="4168830" cy="3639155"/>
          </a:xfrm>
          <a:custGeom>
            <a:avLst/>
            <a:gdLst/>
            <a:ahLst/>
            <a:cxnLst/>
            <a:rect l="l" t="t" r="r" b="b"/>
            <a:pathLst>
              <a:path w="4168830" h="3639155">
                <a:moveTo>
                  <a:pt x="0" y="0"/>
                </a:moveTo>
                <a:lnTo>
                  <a:pt x="4168830" y="0"/>
                </a:lnTo>
                <a:lnTo>
                  <a:pt x="4168830" y="3639155"/>
                </a:lnTo>
                <a:lnTo>
                  <a:pt x="0" y="3639155"/>
                </a:lnTo>
                <a:lnTo>
                  <a:pt x="0" y="0"/>
                </a:lnTo>
                <a:close/>
              </a:path>
            </a:pathLst>
          </a:custGeom>
          <a:blipFill>
            <a:blip r:embed="rId2">
              <a:extLst>
                <a:ext uri="{96DAC541-7B7A-43D3-8B79-37D633B846F1}">
                  <asvg:svgBlip xmlns:asvg="http://schemas.microsoft.com/office/drawing/2016/SVG/main" r:embed="rId3"/>
                </a:ext>
              </a:extLst>
            </a:blip>
            <a:stretch>
              <a:fillRect b="-235"/>
            </a:stretch>
          </a:blipFill>
        </p:spPr>
      </p:sp>
      <p:sp>
        <p:nvSpPr>
          <p:cNvPr id="3" name="TextBox 3"/>
          <p:cNvSpPr txBox="1"/>
          <p:nvPr/>
        </p:nvSpPr>
        <p:spPr>
          <a:xfrm>
            <a:off x="3842081" y="642549"/>
            <a:ext cx="11167513" cy="1000902"/>
          </a:xfrm>
          <a:prstGeom prst="rect">
            <a:avLst/>
          </a:prstGeom>
        </p:spPr>
        <p:txBody>
          <a:bodyPr lIns="0" tIns="0" rIns="0" bIns="0" rtlCol="0" anchor="t">
            <a:spAutoFit/>
          </a:bodyPr>
          <a:lstStyle/>
          <a:p>
            <a:pPr marL="0" lvl="1" indent="0" algn="ctr">
              <a:lnSpc>
                <a:spcPts val="7283"/>
              </a:lnSpc>
            </a:pPr>
            <a:r>
              <a:rPr lang="en-US" sz="8092" b="1" spc="-372">
                <a:solidFill>
                  <a:srgbClr val="00694C"/>
                </a:solidFill>
                <a:latin typeface="Raleway Medium"/>
                <a:ea typeface="Raleway Medium"/>
                <a:cs typeface="Raleway Medium"/>
                <a:sym typeface="Raleway Medium"/>
              </a:rPr>
              <a:t>MODEL SELECTION</a:t>
            </a:r>
          </a:p>
        </p:txBody>
      </p:sp>
      <p:sp>
        <p:nvSpPr>
          <p:cNvPr id="4" name="TextBox 4"/>
          <p:cNvSpPr txBox="1"/>
          <p:nvPr/>
        </p:nvSpPr>
        <p:spPr>
          <a:xfrm>
            <a:off x="708732" y="1586301"/>
            <a:ext cx="13789457" cy="7401861"/>
          </a:xfrm>
          <a:prstGeom prst="rect">
            <a:avLst/>
          </a:prstGeom>
        </p:spPr>
        <p:txBody>
          <a:bodyPr lIns="0" tIns="0" rIns="0" bIns="0" rtlCol="0" anchor="t">
            <a:spAutoFit/>
          </a:bodyPr>
          <a:lstStyle/>
          <a:p>
            <a:pPr algn="l">
              <a:lnSpc>
                <a:spcPts val="4148"/>
              </a:lnSpc>
            </a:pPr>
            <a:r>
              <a:rPr lang="en-US" sz="2963">
                <a:solidFill>
                  <a:srgbClr val="00694C"/>
                </a:solidFill>
                <a:latin typeface="Canva Sans"/>
                <a:ea typeface="Canva Sans"/>
                <a:cs typeface="Canva Sans"/>
                <a:sym typeface="Canva Sans"/>
              </a:rPr>
              <a:t>In this process, we have key steps: </a:t>
            </a:r>
          </a:p>
          <a:p>
            <a:pPr marL="639748" lvl="1" indent="-319874" algn="l">
              <a:lnSpc>
                <a:spcPts val="4148"/>
              </a:lnSpc>
              <a:buFont typeface="Arial"/>
              <a:buChar char="•"/>
            </a:pPr>
            <a:r>
              <a:rPr lang="en-US" sz="2963" b="1">
                <a:solidFill>
                  <a:srgbClr val="00694C"/>
                </a:solidFill>
                <a:latin typeface="Canva Sans Bold"/>
                <a:ea typeface="Canva Sans Bold"/>
                <a:cs typeface="Canva Sans Bold"/>
                <a:sym typeface="Canva Sans Bold"/>
              </a:rPr>
              <a:t>Model Selection &amp; Model Building. </a:t>
            </a:r>
          </a:p>
          <a:p>
            <a:pPr algn="l">
              <a:lnSpc>
                <a:spcPts val="4848"/>
              </a:lnSpc>
            </a:pPr>
            <a:endParaRPr lang="en-US" sz="2963" b="1">
              <a:solidFill>
                <a:srgbClr val="00694C"/>
              </a:solidFill>
              <a:latin typeface="Canva Sans Bold"/>
              <a:ea typeface="Canva Sans Bold"/>
              <a:cs typeface="Canva Sans Bold"/>
              <a:sym typeface="Canva Sans Bold"/>
            </a:endParaRPr>
          </a:p>
          <a:p>
            <a:pPr algn="l">
              <a:lnSpc>
                <a:spcPts val="4148"/>
              </a:lnSpc>
            </a:pPr>
            <a:r>
              <a:rPr lang="en-US" sz="2963">
                <a:solidFill>
                  <a:srgbClr val="00694C"/>
                </a:solidFill>
                <a:latin typeface="Canva Sans"/>
                <a:ea typeface="Canva Sans"/>
                <a:cs typeface="Canva Sans"/>
                <a:sym typeface="Canva Sans"/>
              </a:rPr>
              <a:t>When it comes to model selection, we consider various types of models:</a:t>
            </a:r>
          </a:p>
          <a:p>
            <a:pPr marL="639748" lvl="1" indent="-319874" algn="l">
              <a:lnSpc>
                <a:spcPts val="4148"/>
              </a:lnSpc>
              <a:buFont typeface="Arial"/>
              <a:buChar char="•"/>
            </a:pPr>
            <a:r>
              <a:rPr lang="en-US" sz="2963" b="1">
                <a:solidFill>
                  <a:srgbClr val="00694C"/>
                </a:solidFill>
                <a:latin typeface="Canva Sans Bold"/>
                <a:ea typeface="Canva Sans Bold"/>
                <a:cs typeface="Canva Sans Bold"/>
                <a:sym typeface="Canva Sans Bold"/>
              </a:rPr>
              <a:t>Classification Models </a:t>
            </a:r>
          </a:p>
          <a:p>
            <a:pPr marL="639748" lvl="1" indent="-319874" algn="l">
              <a:lnSpc>
                <a:spcPts val="4148"/>
              </a:lnSpc>
              <a:buFont typeface="Arial"/>
              <a:buChar char="•"/>
            </a:pPr>
            <a:r>
              <a:rPr lang="en-US" sz="2963" b="1">
                <a:solidFill>
                  <a:srgbClr val="00694C"/>
                </a:solidFill>
                <a:latin typeface="Canva Sans Bold"/>
                <a:ea typeface="Canva Sans Bold"/>
                <a:cs typeface="Canva Sans Bold"/>
                <a:sym typeface="Canva Sans Bold"/>
              </a:rPr>
              <a:t>Regression Models</a:t>
            </a:r>
          </a:p>
          <a:p>
            <a:pPr marL="639748" lvl="1" indent="-319874" algn="l">
              <a:lnSpc>
                <a:spcPts val="4148"/>
              </a:lnSpc>
              <a:buFont typeface="Arial"/>
              <a:buChar char="•"/>
            </a:pPr>
            <a:r>
              <a:rPr lang="en-US" sz="2963" b="1">
                <a:solidFill>
                  <a:srgbClr val="00694C"/>
                </a:solidFill>
                <a:latin typeface="Canva Sans Bold"/>
                <a:ea typeface="Canva Sans Bold"/>
                <a:cs typeface="Canva Sans Bold"/>
                <a:sym typeface="Canva Sans Bold"/>
              </a:rPr>
              <a:t>Clustering Models</a:t>
            </a:r>
          </a:p>
          <a:p>
            <a:pPr marL="639748" lvl="1" indent="-319874" algn="l">
              <a:lnSpc>
                <a:spcPts val="4148"/>
              </a:lnSpc>
              <a:buFont typeface="Arial"/>
              <a:buChar char="•"/>
            </a:pPr>
            <a:r>
              <a:rPr lang="en-US" sz="2963" b="1">
                <a:solidFill>
                  <a:srgbClr val="00694C"/>
                </a:solidFill>
                <a:latin typeface="Canva Sans Bold"/>
                <a:ea typeface="Canva Sans Bold"/>
                <a:cs typeface="Canva Sans Bold"/>
                <a:sym typeface="Canva Sans Bold"/>
              </a:rPr>
              <a:t>Deep Learning Models</a:t>
            </a:r>
          </a:p>
          <a:p>
            <a:pPr marL="639748" lvl="1" indent="-319874" algn="l">
              <a:lnSpc>
                <a:spcPts val="4148"/>
              </a:lnSpc>
              <a:buFont typeface="Arial"/>
              <a:buChar char="•"/>
            </a:pPr>
            <a:r>
              <a:rPr lang="en-US" sz="2963" b="1">
                <a:solidFill>
                  <a:srgbClr val="00694C"/>
                </a:solidFill>
                <a:latin typeface="Canva Sans Bold"/>
                <a:ea typeface="Canva Sans Bold"/>
                <a:cs typeface="Canva Sans Bold"/>
                <a:sym typeface="Canva Sans Bold"/>
              </a:rPr>
              <a:t>NLP models</a:t>
            </a:r>
          </a:p>
          <a:p>
            <a:pPr algn="l">
              <a:lnSpc>
                <a:spcPts val="4148"/>
              </a:lnSpc>
            </a:pPr>
            <a:endParaRPr lang="en-US" sz="2963" b="1">
              <a:solidFill>
                <a:srgbClr val="00694C"/>
              </a:solidFill>
              <a:latin typeface="Canva Sans Bold"/>
              <a:ea typeface="Canva Sans Bold"/>
              <a:cs typeface="Canva Sans Bold"/>
              <a:sym typeface="Canva Sans Bold"/>
            </a:endParaRPr>
          </a:p>
          <a:p>
            <a:pPr algn="l">
              <a:lnSpc>
                <a:spcPts val="4148"/>
              </a:lnSpc>
            </a:pPr>
            <a:r>
              <a:rPr lang="en-US" sz="2963">
                <a:solidFill>
                  <a:srgbClr val="00694C"/>
                </a:solidFill>
                <a:latin typeface="Canva Sans"/>
                <a:ea typeface="Canva Sans"/>
                <a:cs typeface="Canva Sans"/>
                <a:sym typeface="Canva Sans"/>
              </a:rPr>
              <a:t>Here we are using Classication Model:</a:t>
            </a:r>
          </a:p>
          <a:p>
            <a:pPr algn="l">
              <a:lnSpc>
                <a:spcPts val="4148"/>
              </a:lnSpc>
            </a:pPr>
            <a:r>
              <a:rPr lang="en-US" sz="2963">
                <a:solidFill>
                  <a:srgbClr val="00694C"/>
                </a:solidFill>
                <a:latin typeface="Canva Sans"/>
                <a:ea typeface="Canva Sans"/>
                <a:cs typeface="Canva Sans"/>
                <a:sym typeface="Canva Sans"/>
              </a:rPr>
              <a:t>Random Forest Classifier : we are using a Random Forest Classifier to predict the medical condition based on environmental factors such as SO2, NO2,SPM etc.</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D4F6EC"/>
        </a:solidFill>
        <a:effectLst/>
      </p:bgPr>
    </p:bg>
    <p:spTree>
      <p:nvGrpSpPr>
        <p:cNvPr id="1" name=""/>
        <p:cNvGrpSpPr/>
        <p:nvPr/>
      </p:nvGrpSpPr>
      <p:grpSpPr>
        <a:xfrm>
          <a:off x="0" y="0"/>
          <a:ext cx="0" cy="0"/>
          <a:chOff x="0" y="0"/>
          <a:chExt cx="0" cy="0"/>
        </a:xfrm>
      </p:grpSpPr>
      <p:sp>
        <p:nvSpPr>
          <p:cNvPr id="2" name="TextBox 2"/>
          <p:cNvSpPr txBox="1"/>
          <p:nvPr/>
        </p:nvSpPr>
        <p:spPr>
          <a:xfrm>
            <a:off x="3777599" y="642549"/>
            <a:ext cx="11167513" cy="1000902"/>
          </a:xfrm>
          <a:prstGeom prst="rect">
            <a:avLst/>
          </a:prstGeom>
        </p:spPr>
        <p:txBody>
          <a:bodyPr lIns="0" tIns="0" rIns="0" bIns="0" rtlCol="0" anchor="t">
            <a:spAutoFit/>
          </a:bodyPr>
          <a:lstStyle/>
          <a:p>
            <a:pPr marL="0" lvl="1" indent="0" algn="ctr">
              <a:lnSpc>
                <a:spcPts val="7283"/>
              </a:lnSpc>
            </a:pPr>
            <a:r>
              <a:rPr lang="en-US" sz="8092" b="1" spc="-372">
                <a:solidFill>
                  <a:srgbClr val="00694C"/>
                </a:solidFill>
                <a:latin typeface="Raleway Medium"/>
                <a:ea typeface="Raleway Medium"/>
                <a:cs typeface="Raleway Medium"/>
                <a:sym typeface="Raleway Medium"/>
              </a:rPr>
              <a:t>MODEL BUILDING</a:t>
            </a:r>
          </a:p>
        </p:txBody>
      </p:sp>
      <p:sp>
        <p:nvSpPr>
          <p:cNvPr id="3" name="Freeform 3"/>
          <p:cNvSpPr/>
          <p:nvPr/>
        </p:nvSpPr>
        <p:spPr>
          <a:xfrm>
            <a:off x="12680782" y="6530164"/>
            <a:ext cx="5607218" cy="3756836"/>
          </a:xfrm>
          <a:custGeom>
            <a:avLst/>
            <a:gdLst/>
            <a:ahLst/>
            <a:cxnLst/>
            <a:rect l="l" t="t" r="r" b="b"/>
            <a:pathLst>
              <a:path w="5607218" h="3756836">
                <a:moveTo>
                  <a:pt x="0" y="0"/>
                </a:moveTo>
                <a:lnTo>
                  <a:pt x="5607218" y="0"/>
                </a:lnTo>
                <a:lnTo>
                  <a:pt x="5607218" y="3756836"/>
                </a:lnTo>
                <a:lnTo>
                  <a:pt x="0" y="37568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487074" y="2659871"/>
            <a:ext cx="15869912" cy="6598429"/>
          </a:xfrm>
          <a:prstGeom prst="rect">
            <a:avLst/>
          </a:prstGeom>
        </p:spPr>
        <p:txBody>
          <a:bodyPr lIns="0" tIns="0" rIns="0" bIns="0" rtlCol="0" anchor="t">
            <a:spAutoFit/>
          </a:bodyPr>
          <a:lstStyle/>
          <a:p>
            <a:pPr algn="l">
              <a:lnSpc>
                <a:spcPts val="4412"/>
              </a:lnSpc>
            </a:pPr>
            <a:r>
              <a:rPr lang="en-US" sz="2723" b="1">
                <a:solidFill>
                  <a:srgbClr val="00694C"/>
                </a:solidFill>
                <a:latin typeface="Canva Sans Bold"/>
                <a:ea typeface="Canva Sans Bold"/>
                <a:cs typeface="Canva Sans Bold"/>
                <a:sym typeface="Canva Sans Bold"/>
              </a:rPr>
              <a:t>1.Feature Selection and Target Definition:</a:t>
            </a:r>
          </a:p>
          <a:p>
            <a:pPr marL="588000" lvl="1" indent="-294000" algn="l">
              <a:lnSpc>
                <a:spcPts val="4412"/>
              </a:lnSpc>
              <a:buFont typeface="Arial"/>
              <a:buChar char="•"/>
            </a:pPr>
            <a:r>
              <a:rPr lang="en-US" sz="2723">
                <a:solidFill>
                  <a:srgbClr val="00694C"/>
                </a:solidFill>
                <a:latin typeface="Canva Sans"/>
                <a:ea typeface="Canva Sans"/>
                <a:cs typeface="Canva Sans"/>
                <a:sym typeface="Canva Sans"/>
              </a:rPr>
              <a:t>We selected medical condition as the target variable.</a:t>
            </a:r>
          </a:p>
          <a:p>
            <a:pPr algn="l">
              <a:lnSpc>
                <a:spcPts val="4412"/>
              </a:lnSpc>
            </a:pPr>
            <a:r>
              <a:rPr lang="en-US" sz="2723" b="1">
                <a:solidFill>
                  <a:srgbClr val="00694C"/>
                </a:solidFill>
                <a:latin typeface="Canva Sans Bold"/>
                <a:ea typeface="Canva Sans Bold"/>
                <a:cs typeface="Canva Sans Bold"/>
                <a:sym typeface="Canva Sans Bold"/>
              </a:rPr>
              <a:t>2. Preprocessing Steps:</a:t>
            </a:r>
          </a:p>
          <a:p>
            <a:pPr marL="588000" lvl="1" indent="-294000" algn="l">
              <a:lnSpc>
                <a:spcPts val="4412"/>
              </a:lnSpc>
              <a:buFont typeface="Arial"/>
              <a:buChar char="•"/>
            </a:pPr>
            <a:r>
              <a:rPr lang="en-US" sz="2723">
                <a:solidFill>
                  <a:srgbClr val="00694C"/>
                </a:solidFill>
                <a:latin typeface="Canva Sans"/>
                <a:ea typeface="Canva Sans"/>
                <a:cs typeface="Canva Sans"/>
                <a:sym typeface="Canva Sans"/>
              </a:rPr>
              <a:t>Describe the specific preprocessing steps taken, such as handling missing values, scaling features, or encoding categorical variables.</a:t>
            </a:r>
          </a:p>
          <a:p>
            <a:pPr algn="l">
              <a:lnSpc>
                <a:spcPts val="4412"/>
              </a:lnSpc>
            </a:pPr>
            <a:r>
              <a:rPr lang="en-US" sz="2723" b="1">
                <a:solidFill>
                  <a:srgbClr val="00694C"/>
                </a:solidFill>
                <a:latin typeface="Canva Sans Bold"/>
                <a:ea typeface="Canva Sans Bold"/>
                <a:cs typeface="Canva Sans Bold"/>
                <a:sym typeface="Canva Sans Bold"/>
              </a:rPr>
              <a:t>3. Model Selection and Training:</a:t>
            </a:r>
          </a:p>
          <a:p>
            <a:pPr marL="588000" lvl="1" indent="-294000" algn="l">
              <a:lnSpc>
                <a:spcPts val="4412"/>
              </a:lnSpc>
              <a:buFont typeface="Arial"/>
              <a:buChar char="•"/>
            </a:pPr>
            <a:r>
              <a:rPr lang="en-US" sz="2723">
                <a:solidFill>
                  <a:srgbClr val="00694C"/>
                </a:solidFill>
                <a:latin typeface="Canva Sans"/>
                <a:ea typeface="Canva Sans"/>
                <a:cs typeface="Canva Sans"/>
                <a:sym typeface="Canva Sans"/>
              </a:rPr>
              <a:t>The model was trained on standardized features using the</a:t>
            </a:r>
            <a:r>
              <a:rPr lang="en-US" sz="2723" i="1">
                <a:solidFill>
                  <a:srgbClr val="00694C"/>
                </a:solidFill>
                <a:latin typeface="Canva Sans Italics"/>
                <a:ea typeface="Canva Sans Italics"/>
                <a:cs typeface="Canva Sans Italics"/>
                <a:sym typeface="Canva Sans Italics"/>
              </a:rPr>
              <a:t> fit()</a:t>
            </a:r>
            <a:r>
              <a:rPr lang="en-US" sz="2723">
                <a:solidFill>
                  <a:srgbClr val="00694C"/>
                </a:solidFill>
                <a:latin typeface="Canva Sans"/>
                <a:ea typeface="Canva Sans"/>
                <a:cs typeface="Canva Sans"/>
                <a:sym typeface="Canva Sans"/>
              </a:rPr>
              <a:t> method.</a:t>
            </a:r>
          </a:p>
          <a:p>
            <a:pPr algn="l">
              <a:lnSpc>
                <a:spcPts val="4412"/>
              </a:lnSpc>
            </a:pPr>
            <a:r>
              <a:rPr lang="en-US" sz="2723" b="1">
                <a:solidFill>
                  <a:srgbClr val="00694C"/>
                </a:solidFill>
                <a:latin typeface="Canva Sans Bold"/>
                <a:ea typeface="Canva Sans Bold"/>
                <a:cs typeface="Canva Sans Bold"/>
                <a:sym typeface="Canva Sans Bold"/>
              </a:rPr>
              <a:t>4. Evaluation and Model Persistence:</a:t>
            </a:r>
          </a:p>
          <a:p>
            <a:pPr marL="588000" lvl="1" indent="-294000" algn="l">
              <a:lnSpc>
                <a:spcPts val="4412"/>
              </a:lnSpc>
              <a:buFont typeface="Arial"/>
              <a:buChar char="•"/>
            </a:pPr>
            <a:r>
              <a:rPr lang="en-US" sz="2723">
                <a:solidFill>
                  <a:srgbClr val="00694C"/>
                </a:solidFill>
                <a:latin typeface="Canva Sans"/>
                <a:ea typeface="Canva Sans"/>
                <a:cs typeface="Canva Sans"/>
                <a:sym typeface="Canva Sans"/>
              </a:rPr>
              <a:t>The model's performance was evaluated using accuracy, precision, recall</a:t>
            </a:r>
          </a:p>
          <a:p>
            <a:pPr algn="l">
              <a:lnSpc>
                <a:spcPts val="4412"/>
              </a:lnSpc>
            </a:pPr>
            <a:r>
              <a:rPr lang="en-US" sz="2723">
                <a:solidFill>
                  <a:srgbClr val="00694C"/>
                </a:solidFill>
                <a:latin typeface="Canva Sans"/>
                <a:ea typeface="Canva Sans"/>
                <a:cs typeface="Canva Sans"/>
                <a:sym typeface="Canva Sans"/>
              </a:rPr>
              <a:t>       and F1-score (as provided by the</a:t>
            </a:r>
            <a:r>
              <a:rPr lang="en-US" sz="2723" i="1">
                <a:solidFill>
                  <a:srgbClr val="00694C"/>
                </a:solidFill>
                <a:latin typeface="Canva Sans Italics"/>
                <a:ea typeface="Canva Sans Italics"/>
                <a:cs typeface="Canva Sans Italics"/>
                <a:sym typeface="Canva Sans Italics"/>
              </a:rPr>
              <a:t> classification_report </a:t>
            </a:r>
            <a:r>
              <a:rPr lang="en-US" sz="2723">
                <a:solidFill>
                  <a:srgbClr val="00694C"/>
                </a:solidFill>
                <a:latin typeface="Canva Sans"/>
                <a:ea typeface="Canva Sans"/>
                <a:cs typeface="Canva Sans"/>
                <a:sym typeface="Canva Sans"/>
              </a:rPr>
              <a:t>function).</a:t>
            </a:r>
          </a:p>
          <a:p>
            <a:pPr algn="l">
              <a:lnSpc>
                <a:spcPts val="4412"/>
              </a:lnSpc>
            </a:pPr>
            <a:endParaRPr lang="en-US" sz="2723">
              <a:solidFill>
                <a:srgbClr val="00694C"/>
              </a:solidFill>
              <a:latin typeface="Canva Sans"/>
              <a:ea typeface="Canva Sans"/>
              <a:cs typeface="Canva Sans"/>
              <a:sym typeface="Canva Sans"/>
            </a:endParaRPr>
          </a:p>
          <a:p>
            <a:pPr algn="l">
              <a:lnSpc>
                <a:spcPts val="4412"/>
              </a:lnSpc>
            </a:pPr>
            <a:endParaRPr lang="en-US" sz="2723">
              <a:solidFill>
                <a:srgbClr val="00694C"/>
              </a:solidFill>
              <a:latin typeface="Canva Sans"/>
              <a:ea typeface="Canva Sans"/>
              <a:cs typeface="Canva Sans"/>
              <a:sym typeface="Canva Sans"/>
            </a:endParaRPr>
          </a:p>
        </p:txBody>
      </p:sp>
      <p:sp>
        <p:nvSpPr>
          <p:cNvPr id="5" name="TextBox 5"/>
          <p:cNvSpPr txBox="1"/>
          <p:nvPr/>
        </p:nvSpPr>
        <p:spPr>
          <a:xfrm>
            <a:off x="-1125732" y="1937310"/>
            <a:ext cx="15523559" cy="495376"/>
          </a:xfrm>
          <a:prstGeom prst="rect">
            <a:avLst/>
          </a:prstGeom>
        </p:spPr>
        <p:txBody>
          <a:bodyPr lIns="0" tIns="0" rIns="0" bIns="0" rtlCol="0" anchor="t">
            <a:spAutoFit/>
          </a:bodyPr>
          <a:lstStyle/>
          <a:p>
            <a:pPr algn="ctr">
              <a:lnSpc>
                <a:spcPts val="4195"/>
              </a:lnSpc>
            </a:pPr>
            <a:r>
              <a:rPr lang="en-US" sz="2997" b="1">
                <a:solidFill>
                  <a:srgbClr val="00694C"/>
                </a:solidFill>
                <a:latin typeface="Canva Sans Bold"/>
                <a:ea typeface="Canva Sans Bold"/>
                <a:cs typeface="Canva Sans Bold"/>
                <a:sym typeface="Canva Sans Bold"/>
              </a:rPr>
              <a:t>Here are four key points regarding your model building approach:</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4F6EC"/>
        </a:solidFill>
        <a:effectLst/>
      </p:bgPr>
    </p:bg>
    <p:spTree>
      <p:nvGrpSpPr>
        <p:cNvPr id="1" name=""/>
        <p:cNvGrpSpPr/>
        <p:nvPr/>
      </p:nvGrpSpPr>
      <p:grpSpPr>
        <a:xfrm>
          <a:off x="0" y="0"/>
          <a:ext cx="0" cy="0"/>
          <a:chOff x="0" y="0"/>
          <a:chExt cx="0" cy="0"/>
        </a:xfrm>
      </p:grpSpPr>
      <p:sp>
        <p:nvSpPr>
          <p:cNvPr id="2" name="TextBox 2"/>
          <p:cNvSpPr txBox="1"/>
          <p:nvPr/>
        </p:nvSpPr>
        <p:spPr>
          <a:xfrm>
            <a:off x="3719851" y="642549"/>
            <a:ext cx="11167513" cy="1000902"/>
          </a:xfrm>
          <a:prstGeom prst="rect">
            <a:avLst/>
          </a:prstGeom>
        </p:spPr>
        <p:txBody>
          <a:bodyPr lIns="0" tIns="0" rIns="0" bIns="0" rtlCol="0" anchor="t">
            <a:spAutoFit/>
          </a:bodyPr>
          <a:lstStyle/>
          <a:p>
            <a:pPr marL="0" lvl="1" indent="0" algn="ctr">
              <a:lnSpc>
                <a:spcPts val="7283"/>
              </a:lnSpc>
            </a:pPr>
            <a:r>
              <a:rPr lang="en-US" sz="8092" b="1" spc="-372">
                <a:solidFill>
                  <a:srgbClr val="00694C"/>
                </a:solidFill>
                <a:latin typeface="Raleway Medium"/>
                <a:ea typeface="Raleway Medium"/>
                <a:cs typeface="Raleway Medium"/>
                <a:sym typeface="Raleway Medium"/>
              </a:rPr>
              <a:t>MODEL EVALUATION</a:t>
            </a:r>
          </a:p>
        </p:txBody>
      </p:sp>
      <p:sp>
        <p:nvSpPr>
          <p:cNvPr id="3" name="Freeform 3"/>
          <p:cNvSpPr/>
          <p:nvPr/>
        </p:nvSpPr>
        <p:spPr>
          <a:xfrm>
            <a:off x="13335000" y="7124700"/>
            <a:ext cx="4953000" cy="3162300"/>
          </a:xfrm>
          <a:custGeom>
            <a:avLst/>
            <a:gdLst/>
            <a:ahLst/>
            <a:cxnLst/>
            <a:rect l="l" t="t" r="r" b="b"/>
            <a:pathLst>
              <a:path w="5132416" h="3374563">
                <a:moveTo>
                  <a:pt x="0" y="0"/>
                </a:moveTo>
                <a:lnTo>
                  <a:pt x="5132416" y="0"/>
                </a:lnTo>
                <a:lnTo>
                  <a:pt x="5132416" y="3374563"/>
                </a:lnTo>
                <a:lnTo>
                  <a:pt x="0" y="3374563"/>
                </a:lnTo>
                <a:lnTo>
                  <a:pt x="0" y="0"/>
                </a:lnTo>
                <a:close/>
              </a:path>
            </a:pathLst>
          </a:custGeom>
          <a:blipFill>
            <a:blip r:embed="rId2"/>
            <a:stretch>
              <a:fillRect/>
            </a:stretch>
          </a:blipFill>
        </p:spPr>
      </p:sp>
      <p:sp>
        <p:nvSpPr>
          <p:cNvPr id="4" name="TextBox 4"/>
          <p:cNvSpPr txBox="1"/>
          <p:nvPr/>
        </p:nvSpPr>
        <p:spPr>
          <a:xfrm>
            <a:off x="192851" y="2408866"/>
            <a:ext cx="17421212" cy="6849159"/>
          </a:xfrm>
          <a:prstGeom prst="rect">
            <a:avLst/>
          </a:prstGeom>
        </p:spPr>
        <p:txBody>
          <a:bodyPr lIns="0" tIns="0" rIns="0" bIns="0" rtlCol="0" anchor="t">
            <a:spAutoFit/>
          </a:bodyPr>
          <a:lstStyle/>
          <a:p>
            <a:pPr marL="560923" lvl="1" indent="-280461" algn="l">
              <a:lnSpc>
                <a:spcPts val="3637"/>
              </a:lnSpc>
              <a:buAutoNum type="arabicPeriod"/>
            </a:pPr>
            <a:r>
              <a:rPr lang="en-US" sz="2598" b="1" dirty="0">
                <a:solidFill>
                  <a:srgbClr val="00694C"/>
                </a:solidFill>
                <a:latin typeface="Canva Sans Bold"/>
                <a:ea typeface="Canva Sans Bold"/>
                <a:cs typeface="Canva Sans Bold"/>
                <a:sym typeface="Canva Sans Bold"/>
              </a:rPr>
              <a:t>Accuracy Score:</a:t>
            </a:r>
            <a:r>
              <a:rPr lang="en-US" sz="2598" dirty="0">
                <a:solidFill>
                  <a:srgbClr val="00694C"/>
                </a:solidFill>
                <a:latin typeface="Canva Sans"/>
                <a:ea typeface="Canva Sans"/>
                <a:cs typeface="Canva Sans"/>
                <a:sym typeface="Canva Sans"/>
              </a:rPr>
              <a:t> Measures the overall proportion of correct predictions made by the model.</a:t>
            </a:r>
          </a:p>
          <a:p>
            <a:pPr marL="560923" lvl="1" indent="-280461" algn="l">
              <a:lnSpc>
                <a:spcPts val="3637"/>
              </a:lnSpc>
              <a:buAutoNum type="arabicPeriod"/>
            </a:pPr>
            <a:r>
              <a:rPr lang="en-US" sz="2598" b="1" dirty="0">
                <a:solidFill>
                  <a:srgbClr val="00694C"/>
                </a:solidFill>
                <a:latin typeface="Canva Sans Bold"/>
                <a:ea typeface="Canva Sans Bold"/>
                <a:cs typeface="Canva Sans Bold"/>
                <a:sym typeface="Canva Sans Bold"/>
              </a:rPr>
              <a:t>Classification Report: </a:t>
            </a:r>
            <a:r>
              <a:rPr lang="en-US" sz="2598" dirty="0">
                <a:solidFill>
                  <a:srgbClr val="00694C"/>
                </a:solidFill>
                <a:latin typeface="Canva Sans"/>
                <a:ea typeface="Canva Sans"/>
                <a:cs typeface="Canva Sans"/>
                <a:sym typeface="Canva Sans"/>
              </a:rPr>
              <a:t>Provides a detailed breakdown of the model's performance for each class, including:</a:t>
            </a:r>
          </a:p>
          <a:p>
            <a:pPr marL="1121846" lvl="2" indent="-373949" algn="l">
              <a:lnSpc>
                <a:spcPts val="3637"/>
              </a:lnSpc>
              <a:buFont typeface="Arial"/>
              <a:buChar char="⚬"/>
            </a:pPr>
            <a:r>
              <a:rPr lang="en-US" sz="2598" b="1" dirty="0">
                <a:solidFill>
                  <a:srgbClr val="00694C"/>
                </a:solidFill>
                <a:latin typeface="Canva Sans Bold"/>
                <a:ea typeface="Canva Sans Bold"/>
                <a:cs typeface="Canva Sans Bold"/>
                <a:sym typeface="Canva Sans Bold"/>
              </a:rPr>
              <a:t>Precision:</a:t>
            </a:r>
            <a:r>
              <a:rPr lang="en-US" sz="2598" dirty="0">
                <a:solidFill>
                  <a:srgbClr val="00694C"/>
                </a:solidFill>
                <a:latin typeface="Canva Sans"/>
                <a:ea typeface="Canva Sans"/>
                <a:cs typeface="Canva Sans"/>
                <a:sym typeface="Canva Sans"/>
              </a:rPr>
              <a:t> positive predictive value</a:t>
            </a:r>
          </a:p>
          <a:p>
            <a:pPr marL="1121846" lvl="2" indent="-373949" algn="l">
              <a:lnSpc>
                <a:spcPts val="3637"/>
              </a:lnSpc>
              <a:buFont typeface="Arial"/>
              <a:buChar char="⚬"/>
            </a:pPr>
            <a:r>
              <a:rPr lang="en-US" sz="2598" b="1" dirty="0">
                <a:solidFill>
                  <a:srgbClr val="00694C"/>
                </a:solidFill>
                <a:latin typeface="Canva Sans Bold"/>
                <a:ea typeface="Canva Sans Bold"/>
                <a:cs typeface="Canva Sans Bold"/>
                <a:sym typeface="Canva Sans Bold"/>
              </a:rPr>
              <a:t>Recall:</a:t>
            </a:r>
            <a:r>
              <a:rPr lang="en-US" sz="2598" dirty="0">
                <a:solidFill>
                  <a:srgbClr val="00694C"/>
                </a:solidFill>
                <a:latin typeface="Canva Sans"/>
                <a:ea typeface="Canva Sans"/>
                <a:cs typeface="Canva Sans"/>
                <a:sym typeface="Canva Sans"/>
              </a:rPr>
              <a:t> sensitivity</a:t>
            </a:r>
          </a:p>
          <a:p>
            <a:pPr marL="560923" lvl="1" indent="-280461" algn="l">
              <a:lnSpc>
                <a:spcPts val="3637"/>
              </a:lnSpc>
              <a:buAutoNum type="arabicPeriod"/>
            </a:pPr>
            <a:r>
              <a:rPr lang="en-US" sz="2598" b="1" dirty="0">
                <a:solidFill>
                  <a:srgbClr val="00694C"/>
                </a:solidFill>
                <a:latin typeface="Canva Sans Bold"/>
                <a:ea typeface="Canva Sans Bold"/>
                <a:cs typeface="Canva Sans Bold"/>
                <a:sym typeface="Canva Sans Bold"/>
              </a:rPr>
              <a:t>Support:</a:t>
            </a:r>
            <a:r>
              <a:rPr lang="en-US" sz="2598" dirty="0">
                <a:solidFill>
                  <a:srgbClr val="00694C"/>
                </a:solidFill>
                <a:latin typeface="Canva Sans"/>
                <a:ea typeface="Canva Sans"/>
                <a:cs typeface="Canva Sans"/>
                <a:sym typeface="Canva Sans"/>
              </a:rPr>
              <a:t> The total number of true positives (actual positives) and true negatives (actual negatives) for each class. This is particularly relevant for imbalanced datasets, where some classes might have fewer examples.</a:t>
            </a:r>
          </a:p>
          <a:p>
            <a:pPr marL="560923" lvl="1" indent="-280461" algn="l">
              <a:lnSpc>
                <a:spcPts val="3637"/>
              </a:lnSpc>
              <a:buAutoNum type="arabicPeriod"/>
            </a:pPr>
            <a:r>
              <a:rPr lang="en-US" sz="2598" b="1" dirty="0">
                <a:solidFill>
                  <a:srgbClr val="00694C"/>
                </a:solidFill>
                <a:latin typeface="Canva Sans Bold"/>
                <a:ea typeface="Canva Sans Bold"/>
                <a:cs typeface="Canva Sans Bold"/>
                <a:sym typeface="Canva Sans Bold"/>
              </a:rPr>
              <a:t>Macro and Weighted Averages:</a:t>
            </a:r>
          </a:p>
          <a:p>
            <a:pPr marL="1121846" lvl="2" indent="-373949" algn="l">
              <a:lnSpc>
                <a:spcPts val="3637"/>
              </a:lnSpc>
              <a:buFont typeface="Arial"/>
              <a:buChar char="⚬"/>
            </a:pPr>
            <a:r>
              <a:rPr lang="en-US" sz="2598" b="1" dirty="0">
                <a:solidFill>
                  <a:srgbClr val="00694C"/>
                </a:solidFill>
                <a:latin typeface="Canva Sans Bold"/>
                <a:ea typeface="Canva Sans Bold"/>
                <a:cs typeface="Canva Sans Bold"/>
                <a:sym typeface="Canva Sans Bold"/>
              </a:rPr>
              <a:t>Macro Average:</a:t>
            </a:r>
            <a:r>
              <a:rPr lang="en-US" sz="2598" dirty="0">
                <a:solidFill>
                  <a:srgbClr val="00694C"/>
                </a:solidFill>
                <a:latin typeface="Canva Sans"/>
                <a:ea typeface="Canva Sans"/>
                <a:cs typeface="Canva Sans"/>
                <a:sym typeface="Canva Sans"/>
              </a:rPr>
              <a:t> Calculates the unweighted mean of precision, recall, and F1-score across all classes. This treats each class equally regardless of its size.</a:t>
            </a:r>
          </a:p>
          <a:p>
            <a:pPr marL="1121846" lvl="2" indent="-373949" algn="l">
              <a:lnSpc>
                <a:spcPts val="3637"/>
              </a:lnSpc>
              <a:buFont typeface="Arial"/>
              <a:buChar char="⚬"/>
            </a:pPr>
            <a:r>
              <a:rPr lang="en-US" sz="2598" b="1" dirty="0">
                <a:solidFill>
                  <a:srgbClr val="00694C"/>
                </a:solidFill>
                <a:latin typeface="Canva Sans Bold"/>
                <a:ea typeface="Canva Sans Bold"/>
                <a:cs typeface="Canva Sans Bold"/>
                <a:sym typeface="Canva Sans Bold"/>
              </a:rPr>
              <a:t>Weighted Average:</a:t>
            </a:r>
            <a:r>
              <a:rPr lang="en-US" sz="2598" dirty="0">
                <a:solidFill>
                  <a:srgbClr val="00694C"/>
                </a:solidFill>
                <a:latin typeface="Canva Sans"/>
                <a:ea typeface="Canva Sans"/>
                <a:cs typeface="Canva Sans"/>
                <a:sym typeface="Canva Sans"/>
              </a:rPr>
              <a:t> Takes into account class imbalances by assigning more </a:t>
            </a:r>
          </a:p>
          <a:p>
            <a:pPr algn="l">
              <a:lnSpc>
                <a:spcPts val="3637"/>
              </a:lnSpc>
            </a:pPr>
            <a:r>
              <a:rPr lang="en-US" sz="2598" dirty="0">
                <a:solidFill>
                  <a:srgbClr val="00694C"/>
                </a:solidFill>
                <a:latin typeface="Canva Sans"/>
                <a:ea typeface="Canva Sans"/>
                <a:cs typeface="Canva Sans"/>
                <a:sym typeface="Canva Sans"/>
              </a:rPr>
              <a:t>              weight to larger </a:t>
            </a:r>
            <a:r>
              <a:rPr lang="en-US" sz="2598" dirty="0" err="1">
                <a:solidFill>
                  <a:srgbClr val="00694C"/>
                </a:solidFill>
                <a:latin typeface="Canva Sans"/>
                <a:ea typeface="Canva Sans"/>
                <a:cs typeface="Canva Sans"/>
                <a:sym typeface="Canva Sans"/>
              </a:rPr>
              <a:t>classes.This</a:t>
            </a:r>
            <a:r>
              <a:rPr lang="en-US" sz="2598" dirty="0">
                <a:solidFill>
                  <a:srgbClr val="00694C"/>
                </a:solidFill>
                <a:latin typeface="Canva Sans"/>
                <a:ea typeface="Canva Sans"/>
                <a:cs typeface="Canva Sans"/>
                <a:sym typeface="Canva Sans"/>
              </a:rPr>
              <a:t> provides a better overall picture of performance </a:t>
            </a:r>
          </a:p>
          <a:p>
            <a:pPr algn="l">
              <a:lnSpc>
                <a:spcPts val="3637"/>
              </a:lnSpc>
            </a:pPr>
            <a:r>
              <a:rPr lang="en-US" sz="2598" dirty="0">
                <a:solidFill>
                  <a:srgbClr val="00694C"/>
                </a:solidFill>
                <a:latin typeface="Canva Sans"/>
                <a:ea typeface="Canva Sans"/>
                <a:cs typeface="Canva Sans"/>
                <a:sym typeface="Canva Sans"/>
              </a:rPr>
              <a:t>              when dealing with skewed datasets.</a:t>
            </a:r>
          </a:p>
          <a:p>
            <a:pPr algn="l">
              <a:lnSpc>
                <a:spcPts val="3637"/>
              </a:lnSpc>
            </a:pPr>
            <a:endParaRPr lang="en-US" sz="2598" dirty="0">
              <a:solidFill>
                <a:srgbClr val="00694C"/>
              </a:solidFill>
              <a:latin typeface="Canva Sans"/>
              <a:ea typeface="Canva Sans"/>
              <a:cs typeface="Canva Sans"/>
              <a:sym typeface="Canva Sans"/>
            </a:endParaRPr>
          </a:p>
        </p:txBody>
      </p:sp>
      <p:sp>
        <p:nvSpPr>
          <p:cNvPr id="5" name="TextBox 5"/>
          <p:cNvSpPr txBox="1"/>
          <p:nvPr/>
        </p:nvSpPr>
        <p:spPr>
          <a:xfrm>
            <a:off x="478294" y="1791647"/>
            <a:ext cx="13566696" cy="464820"/>
          </a:xfrm>
          <a:prstGeom prst="rect">
            <a:avLst/>
          </a:prstGeom>
        </p:spPr>
        <p:txBody>
          <a:bodyPr lIns="0" tIns="0" rIns="0" bIns="0" rtlCol="0" anchor="t">
            <a:spAutoFit/>
          </a:bodyPr>
          <a:lstStyle/>
          <a:p>
            <a:pPr algn="ctr">
              <a:lnSpc>
                <a:spcPts val="3780"/>
              </a:lnSpc>
            </a:pPr>
            <a:r>
              <a:rPr lang="en-US" sz="2700" b="1">
                <a:solidFill>
                  <a:srgbClr val="00694C"/>
                </a:solidFill>
                <a:latin typeface="Canva Sans Bold"/>
                <a:ea typeface="Canva Sans Bold"/>
                <a:cs typeface="Canva Sans Bold"/>
                <a:sym typeface="Canva Sans Bold"/>
              </a:rPr>
              <a:t>Here are four key metrics for evaluating your classification model's performance: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D4F6EC"/>
        </a:solidFill>
        <a:effectLst/>
      </p:bgPr>
    </p:bg>
    <p:spTree>
      <p:nvGrpSpPr>
        <p:cNvPr id="1" name=""/>
        <p:cNvGrpSpPr/>
        <p:nvPr/>
      </p:nvGrpSpPr>
      <p:grpSpPr>
        <a:xfrm>
          <a:off x="0" y="0"/>
          <a:ext cx="0" cy="0"/>
          <a:chOff x="0" y="0"/>
          <a:chExt cx="0" cy="0"/>
        </a:xfrm>
      </p:grpSpPr>
      <p:sp>
        <p:nvSpPr>
          <p:cNvPr id="2" name="Freeform 2"/>
          <p:cNvSpPr/>
          <p:nvPr/>
        </p:nvSpPr>
        <p:spPr>
          <a:xfrm>
            <a:off x="14708874" y="6515100"/>
            <a:ext cx="3062096" cy="3264785"/>
          </a:xfrm>
          <a:custGeom>
            <a:avLst/>
            <a:gdLst/>
            <a:ahLst/>
            <a:cxnLst/>
            <a:rect l="l" t="t" r="r" b="b"/>
            <a:pathLst>
              <a:path w="3062096" h="3264785">
                <a:moveTo>
                  <a:pt x="0" y="0"/>
                </a:moveTo>
                <a:lnTo>
                  <a:pt x="3062096" y="0"/>
                </a:lnTo>
                <a:lnTo>
                  <a:pt x="3062096" y="3264784"/>
                </a:lnTo>
                <a:lnTo>
                  <a:pt x="0" y="326478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3707921" y="642549"/>
            <a:ext cx="11167513" cy="1000902"/>
          </a:xfrm>
          <a:prstGeom prst="rect">
            <a:avLst/>
          </a:prstGeom>
        </p:spPr>
        <p:txBody>
          <a:bodyPr lIns="0" tIns="0" rIns="0" bIns="0" rtlCol="0" anchor="t">
            <a:spAutoFit/>
          </a:bodyPr>
          <a:lstStyle/>
          <a:p>
            <a:pPr marL="0" lvl="1" indent="0" algn="ctr">
              <a:lnSpc>
                <a:spcPts val="7283"/>
              </a:lnSpc>
            </a:pPr>
            <a:r>
              <a:rPr lang="en-US" sz="8092" b="1" spc="-372">
                <a:solidFill>
                  <a:srgbClr val="00694C"/>
                </a:solidFill>
                <a:latin typeface="Raleway Medium"/>
                <a:ea typeface="Raleway Medium"/>
                <a:cs typeface="Raleway Medium"/>
                <a:sym typeface="Raleway Medium"/>
              </a:rPr>
              <a:t>DEPLOYMENT</a:t>
            </a:r>
          </a:p>
        </p:txBody>
      </p:sp>
      <p:sp>
        <p:nvSpPr>
          <p:cNvPr id="4" name="TextBox 4"/>
          <p:cNvSpPr txBox="1"/>
          <p:nvPr/>
        </p:nvSpPr>
        <p:spPr>
          <a:xfrm>
            <a:off x="499824" y="2602529"/>
            <a:ext cx="17746516" cy="6655771"/>
          </a:xfrm>
          <a:prstGeom prst="rect">
            <a:avLst/>
          </a:prstGeom>
        </p:spPr>
        <p:txBody>
          <a:bodyPr lIns="0" tIns="0" rIns="0" bIns="0" rtlCol="0" anchor="t">
            <a:spAutoFit/>
          </a:bodyPr>
          <a:lstStyle/>
          <a:p>
            <a:pPr algn="l">
              <a:lnSpc>
                <a:spcPts val="3796"/>
              </a:lnSpc>
            </a:pPr>
            <a:r>
              <a:rPr lang="en-US" sz="2711" b="1" dirty="0">
                <a:solidFill>
                  <a:srgbClr val="00694C"/>
                </a:solidFill>
                <a:latin typeface="Canva Sans Bold"/>
                <a:ea typeface="Canva Sans Bold"/>
                <a:cs typeface="Canva Sans Bold"/>
                <a:sym typeface="Canva Sans Bold"/>
              </a:rPr>
              <a:t>1. Model Saving with </a:t>
            </a:r>
            <a:r>
              <a:rPr lang="en-US" sz="2711" b="1" dirty="0" err="1">
                <a:solidFill>
                  <a:srgbClr val="00694C"/>
                </a:solidFill>
                <a:latin typeface="Canva Sans Bold"/>
                <a:ea typeface="Canva Sans Bold"/>
                <a:cs typeface="Canva Sans Bold"/>
                <a:sym typeface="Canva Sans Bold"/>
              </a:rPr>
              <a:t>Joblib</a:t>
            </a:r>
            <a:r>
              <a:rPr lang="en-US" sz="2711" b="1" dirty="0">
                <a:solidFill>
                  <a:srgbClr val="00694C"/>
                </a:solidFill>
                <a:latin typeface="Canva Sans Bold"/>
                <a:ea typeface="Canva Sans Bold"/>
                <a:cs typeface="Canva Sans Bold"/>
                <a:sym typeface="Canva Sans Bold"/>
              </a:rPr>
              <a:t>:</a:t>
            </a:r>
          </a:p>
          <a:p>
            <a:pPr marL="585471" lvl="1" indent="-292735" algn="l">
              <a:lnSpc>
                <a:spcPts val="3796"/>
              </a:lnSpc>
              <a:buFont typeface="Arial"/>
              <a:buChar char="•"/>
            </a:pPr>
            <a:r>
              <a:rPr lang="en-US" sz="2711" dirty="0">
                <a:solidFill>
                  <a:srgbClr val="00694C"/>
                </a:solidFill>
                <a:latin typeface="Canva Sans"/>
                <a:ea typeface="Canva Sans"/>
                <a:cs typeface="Canva Sans"/>
                <a:sym typeface="Canva Sans"/>
              </a:rPr>
              <a:t>After training the Random Forest model, it is saved using </a:t>
            </a:r>
            <a:r>
              <a:rPr lang="en-US" sz="2711" dirty="0" err="1">
                <a:solidFill>
                  <a:srgbClr val="00694C"/>
                </a:solidFill>
                <a:latin typeface="Canva Sans"/>
                <a:ea typeface="Canva Sans"/>
                <a:cs typeface="Canva Sans"/>
                <a:sym typeface="Canva Sans"/>
              </a:rPr>
              <a:t>joblib.dump</a:t>
            </a:r>
            <a:r>
              <a:rPr lang="en-US" sz="2711" dirty="0">
                <a:solidFill>
                  <a:srgbClr val="00694C"/>
                </a:solidFill>
                <a:latin typeface="Canva Sans"/>
                <a:ea typeface="Canva Sans"/>
                <a:cs typeface="Canva Sans"/>
                <a:sym typeface="Canva Sans"/>
              </a:rPr>
              <a:t>() as </a:t>
            </a:r>
            <a:r>
              <a:rPr lang="en-US" sz="2711" dirty="0" err="1">
                <a:solidFill>
                  <a:srgbClr val="00694C"/>
                </a:solidFill>
                <a:latin typeface="Canva Sans"/>
                <a:ea typeface="Canva Sans"/>
                <a:cs typeface="Canva Sans"/>
                <a:sym typeface="Canva Sans"/>
              </a:rPr>
              <a:t>public_health_insights_classifier_model.pkl</a:t>
            </a:r>
            <a:r>
              <a:rPr lang="en-US" sz="2711" dirty="0">
                <a:solidFill>
                  <a:srgbClr val="00694C"/>
                </a:solidFill>
                <a:latin typeface="Canva Sans"/>
                <a:ea typeface="Canva Sans"/>
                <a:cs typeface="Canva Sans"/>
                <a:sym typeface="Canva Sans"/>
              </a:rPr>
              <a:t>. This preserves the trained model's state for future use.</a:t>
            </a:r>
          </a:p>
          <a:p>
            <a:pPr algn="l">
              <a:lnSpc>
                <a:spcPts val="3796"/>
              </a:lnSpc>
            </a:pPr>
            <a:endParaRPr lang="en-US" sz="2711" dirty="0">
              <a:solidFill>
                <a:srgbClr val="00694C"/>
              </a:solidFill>
              <a:latin typeface="Canva Sans"/>
              <a:ea typeface="Canva Sans"/>
              <a:cs typeface="Canva Sans"/>
              <a:sym typeface="Canva Sans"/>
            </a:endParaRPr>
          </a:p>
          <a:p>
            <a:pPr algn="l">
              <a:lnSpc>
                <a:spcPts val="3796"/>
              </a:lnSpc>
            </a:pPr>
            <a:r>
              <a:rPr lang="en-US" sz="2711" b="1" dirty="0">
                <a:solidFill>
                  <a:srgbClr val="00694C"/>
                </a:solidFill>
                <a:latin typeface="Canva Sans Bold"/>
                <a:ea typeface="Canva Sans Bold"/>
                <a:cs typeface="Canva Sans Bold"/>
                <a:sym typeface="Canva Sans Bold"/>
              </a:rPr>
              <a:t>2. Model Loading for Inference:</a:t>
            </a:r>
          </a:p>
          <a:p>
            <a:pPr marL="585471" lvl="1" indent="-292735" algn="l">
              <a:lnSpc>
                <a:spcPts val="3796"/>
              </a:lnSpc>
              <a:buFont typeface="Arial"/>
              <a:buChar char="•"/>
            </a:pPr>
            <a:r>
              <a:rPr lang="en-US" sz="2711" dirty="0">
                <a:solidFill>
                  <a:srgbClr val="00694C"/>
                </a:solidFill>
                <a:latin typeface="Canva Sans"/>
                <a:ea typeface="Canva Sans"/>
                <a:cs typeface="Canva Sans"/>
                <a:sym typeface="Canva Sans"/>
              </a:rPr>
              <a:t>To deploy the model in a production environment, the saved model can be loaded using </a:t>
            </a:r>
            <a:r>
              <a:rPr lang="en-US" sz="2711" dirty="0" err="1">
                <a:solidFill>
                  <a:srgbClr val="00694C"/>
                </a:solidFill>
                <a:latin typeface="Canva Sans"/>
                <a:ea typeface="Canva Sans"/>
                <a:cs typeface="Canva Sans"/>
                <a:sym typeface="Canva Sans"/>
              </a:rPr>
              <a:t>joblib.load</a:t>
            </a:r>
            <a:r>
              <a:rPr lang="en-US" sz="2711" dirty="0">
                <a:solidFill>
                  <a:srgbClr val="00694C"/>
                </a:solidFill>
                <a:latin typeface="Canva Sans"/>
                <a:ea typeface="Canva Sans"/>
                <a:cs typeface="Canva Sans"/>
                <a:sym typeface="Canva Sans"/>
              </a:rPr>
              <a:t>(). This allows the model to be used for real-time or batch predictions on new healthcare and environmental data without requiring retraining.</a:t>
            </a:r>
          </a:p>
          <a:p>
            <a:pPr algn="l">
              <a:lnSpc>
                <a:spcPts val="3796"/>
              </a:lnSpc>
            </a:pPr>
            <a:endParaRPr lang="en-US" sz="2711" dirty="0">
              <a:solidFill>
                <a:srgbClr val="00694C"/>
              </a:solidFill>
              <a:latin typeface="Canva Sans"/>
              <a:ea typeface="Canva Sans"/>
              <a:cs typeface="Canva Sans"/>
              <a:sym typeface="Canva Sans"/>
            </a:endParaRPr>
          </a:p>
          <a:p>
            <a:pPr algn="l">
              <a:lnSpc>
                <a:spcPts val="3796"/>
              </a:lnSpc>
            </a:pPr>
            <a:r>
              <a:rPr lang="en-US" sz="2711" b="1" dirty="0">
                <a:solidFill>
                  <a:srgbClr val="00694C"/>
                </a:solidFill>
                <a:latin typeface="Canva Sans Bold"/>
                <a:ea typeface="Canva Sans Bold"/>
                <a:cs typeface="Canva Sans Bold"/>
                <a:sym typeface="Canva Sans Bold"/>
              </a:rPr>
              <a:t>Improvements:</a:t>
            </a:r>
          </a:p>
          <a:p>
            <a:pPr marL="585471" lvl="1" indent="-292735" algn="l">
              <a:lnSpc>
                <a:spcPts val="3796"/>
              </a:lnSpc>
              <a:buFont typeface="Arial"/>
              <a:buChar char="•"/>
            </a:pPr>
            <a:r>
              <a:rPr lang="en-US" sz="2711" b="1" dirty="0">
                <a:solidFill>
                  <a:srgbClr val="00694C"/>
                </a:solidFill>
                <a:latin typeface="Canva Sans Bold"/>
                <a:ea typeface="Canva Sans Bold"/>
                <a:cs typeface="Canva Sans Bold"/>
                <a:sym typeface="Canva Sans Bold"/>
              </a:rPr>
              <a:t>Clarity:</a:t>
            </a:r>
            <a:r>
              <a:rPr lang="en-US" sz="2711" dirty="0">
                <a:solidFill>
                  <a:srgbClr val="00694C"/>
                </a:solidFill>
                <a:latin typeface="Canva Sans"/>
                <a:ea typeface="Canva Sans"/>
                <a:cs typeface="Canva Sans"/>
                <a:sym typeface="Canva Sans"/>
              </a:rPr>
              <a:t> More concise and direct explanations for each step.</a:t>
            </a:r>
          </a:p>
          <a:p>
            <a:pPr marL="585471" lvl="1" indent="-292735" algn="l">
              <a:lnSpc>
                <a:spcPts val="3796"/>
              </a:lnSpc>
              <a:buFont typeface="Arial"/>
              <a:buChar char="•"/>
            </a:pPr>
            <a:r>
              <a:rPr lang="en-US" sz="2711" b="1" dirty="0">
                <a:solidFill>
                  <a:srgbClr val="00694C"/>
                </a:solidFill>
                <a:latin typeface="Canva Sans Bold"/>
                <a:ea typeface="Canva Sans Bold"/>
                <a:cs typeface="Canva Sans Bold"/>
                <a:sym typeface="Canva Sans Bold"/>
              </a:rPr>
              <a:t>Specificity:</a:t>
            </a:r>
            <a:r>
              <a:rPr lang="en-US" sz="2711" dirty="0">
                <a:solidFill>
                  <a:srgbClr val="00694C"/>
                </a:solidFill>
                <a:latin typeface="Canva Sans"/>
                <a:ea typeface="Canva Sans"/>
                <a:cs typeface="Canva Sans"/>
                <a:sym typeface="Canva Sans"/>
              </a:rPr>
              <a:t> Emphasized the preservation of the model's state when saving.</a:t>
            </a:r>
          </a:p>
          <a:p>
            <a:pPr marL="585471" lvl="1" indent="-292735" algn="l">
              <a:lnSpc>
                <a:spcPts val="3796"/>
              </a:lnSpc>
              <a:buFont typeface="Arial"/>
              <a:buChar char="•"/>
            </a:pPr>
            <a:r>
              <a:rPr lang="en-US" sz="2711" b="1" dirty="0">
                <a:solidFill>
                  <a:srgbClr val="00694C"/>
                </a:solidFill>
                <a:latin typeface="Canva Sans Bold"/>
                <a:ea typeface="Canva Sans Bold"/>
                <a:cs typeface="Canva Sans Bold"/>
                <a:sym typeface="Canva Sans Bold"/>
              </a:rPr>
              <a:t>Conciseness: </a:t>
            </a:r>
            <a:r>
              <a:rPr lang="en-US" sz="2711" dirty="0">
                <a:solidFill>
                  <a:srgbClr val="00694C"/>
                </a:solidFill>
                <a:latin typeface="Canva Sans"/>
                <a:ea typeface="Canva Sans"/>
                <a:cs typeface="Canva Sans"/>
                <a:sym typeface="Canva Sans"/>
              </a:rPr>
              <a:t>Removed unnecessary repetitions.</a:t>
            </a:r>
          </a:p>
          <a:p>
            <a:pPr algn="l">
              <a:lnSpc>
                <a:spcPts val="3796"/>
              </a:lnSpc>
            </a:pPr>
            <a:endParaRPr lang="en-US" sz="2711" dirty="0">
              <a:solidFill>
                <a:srgbClr val="00694C"/>
              </a:solidFill>
              <a:latin typeface="Canva Sans"/>
              <a:ea typeface="Canva Sans"/>
              <a:cs typeface="Canva Sans"/>
              <a:sym typeface="Canva Sans"/>
            </a:endParaRPr>
          </a:p>
        </p:txBody>
      </p:sp>
      <p:sp>
        <p:nvSpPr>
          <p:cNvPr id="5" name="TextBox 5"/>
          <p:cNvSpPr txBox="1"/>
          <p:nvPr/>
        </p:nvSpPr>
        <p:spPr>
          <a:xfrm>
            <a:off x="485934" y="1890580"/>
            <a:ext cx="13701832" cy="481330"/>
          </a:xfrm>
          <a:prstGeom prst="rect">
            <a:avLst/>
          </a:prstGeom>
        </p:spPr>
        <p:txBody>
          <a:bodyPr lIns="0" tIns="0" rIns="0" bIns="0" rtlCol="0" anchor="t">
            <a:spAutoFit/>
          </a:bodyPr>
          <a:lstStyle/>
          <a:p>
            <a:pPr algn="ctr">
              <a:lnSpc>
                <a:spcPts val="3920"/>
              </a:lnSpc>
            </a:pPr>
            <a:r>
              <a:rPr lang="en-US" sz="2800" b="1">
                <a:solidFill>
                  <a:srgbClr val="00694C"/>
                </a:solidFill>
                <a:latin typeface="Canva Sans Bold"/>
                <a:ea typeface="Canva Sans Bold"/>
                <a:cs typeface="Canva Sans Bold"/>
                <a:sym typeface="Canva Sans Bold"/>
              </a:rPr>
              <a:t>It involves making the model accessible and operational in a real-world setting: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D4F6EC"/>
        </a:solidFill>
        <a:effectLst/>
      </p:bgPr>
    </p:bg>
    <p:spTree>
      <p:nvGrpSpPr>
        <p:cNvPr id="1" name=""/>
        <p:cNvGrpSpPr/>
        <p:nvPr/>
      </p:nvGrpSpPr>
      <p:grpSpPr>
        <a:xfrm>
          <a:off x="0" y="0"/>
          <a:ext cx="0" cy="0"/>
          <a:chOff x="0" y="0"/>
          <a:chExt cx="0" cy="0"/>
        </a:xfrm>
      </p:grpSpPr>
      <p:sp>
        <p:nvSpPr>
          <p:cNvPr id="2" name="Freeform 2"/>
          <p:cNvSpPr/>
          <p:nvPr/>
        </p:nvSpPr>
        <p:spPr>
          <a:xfrm>
            <a:off x="14365004" y="5143500"/>
            <a:ext cx="3616776" cy="7883980"/>
          </a:xfrm>
          <a:custGeom>
            <a:avLst/>
            <a:gdLst/>
            <a:ahLst/>
            <a:cxnLst/>
            <a:rect l="l" t="t" r="r" b="b"/>
            <a:pathLst>
              <a:path w="3616776" h="7883980">
                <a:moveTo>
                  <a:pt x="0" y="0"/>
                </a:moveTo>
                <a:lnTo>
                  <a:pt x="3616775" y="0"/>
                </a:lnTo>
                <a:lnTo>
                  <a:pt x="3616775" y="7883980"/>
                </a:lnTo>
                <a:lnTo>
                  <a:pt x="0" y="7883980"/>
                </a:lnTo>
                <a:lnTo>
                  <a:pt x="0" y="0"/>
                </a:lnTo>
                <a:close/>
              </a:path>
            </a:pathLst>
          </a:custGeom>
          <a:blipFill>
            <a:blip r:embed="rId2">
              <a:alphaModFix amt="75000"/>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rot="-10800000">
            <a:off x="12176714" y="-1555083"/>
            <a:ext cx="7015142" cy="5679421"/>
            <a:chOff x="0" y="0"/>
            <a:chExt cx="9353523" cy="7572561"/>
          </a:xfrm>
        </p:grpSpPr>
        <p:sp>
          <p:nvSpPr>
            <p:cNvPr id="4" name="Freeform 4"/>
            <p:cNvSpPr/>
            <p:nvPr/>
          </p:nvSpPr>
          <p:spPr>
            <a:xfrm>
              <a:off x="0" y="0"/>
              <a:ext cx="6819446" cy="6856847"/>
            </a:xfrm>
            <a:custGeom>
              <a:avLst/>
              <a:gdLst/>
              <a:ahLst/>
              <a:cxnLst/>
              <a:rect l="l" t="t" r="r" b="b"/>
              <a:pathLst>
                <a:path w="6819446" h="6856847">
                  <a:moveTo>
                    <a:pt x="0" y="0"/>
                  </a:moveTo>
                  <a:lnTo>
                    <a:pt x="6819446" y="0"/>
                  </a:lnTo>
                  <a:lnTo>
                    <a:pt x="6819446" y="6856847"/>
                  </a:lnTo>
                  <a:lnTo>
                    <a:pt x="0" y="685684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V="1">
              <a:off x="1776098" y="1991407"/>
              <a:ext cx="3267251" cy="5581154"/>
            </a:xfrm>
            <a:custGeom>
              <a:avLst/>
              <a:gdLst/>
              <a:ahLst/>
              <a:cxnLst/>
              <a:rect l="l" t="t" r="r" b="b"/>
              <a:pathLst>
                <a:path w="3267251" h="5581154">
                  <a:moveTo>
                    <a:pt x="0" y="5581154"/>
                  </a:moveTo>
                  <a:lnTo>
                    <a:pt x="3267251" y="5581154"/>
                  </a:lnTo>
                  <a:lnTo>
                    <a:pt x="3267251" y="0"/>
                  </a:lnTo>
                  <a:lnTo>
                    <a:pt x="0" y="0"/>
                  </a:lnTo>
                  <a:lnTo>
                    <a:pt x="0" y="5581154"/>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5474250" y="2308489"/>
              <a:ext cx="3879273" cy="1911423"/>
            </a:xfrm>
            <a:custGeom>
              <a:avLst/>
              <a:gdLst/>
              <a:ahLst/>
              <a:cxnLst/>
              <a:rect l="l" t="t" r="r" b="b"/>
              <a:pathLst>
                <a:path w="3879273" h="1911423">
                  <a:moveTo>
                    <a:pt x="0" y="0"/>
                  </a:moveTo>
                  <a:lnTo>
                    <a:pt x="3879273" y="0"/>
                  </a:lnTo>
                  <a:lnTo>
                    <a:pt x="3879273" y="1911424"/>
                  </a:lnTo>
                  <a:lnTo>
                    <a:pt x="0" y="191142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grpSp>
        <p:nvGrpSpPr>
          <p:cNvPr id="7" name="Group 7"/>
          <p:cNvGrpSpPr/>
          <p:nvPr/>
        </p:nvGrpSpPr>
        <p:grpSpPr>
          <a:xfrm>
            <a:off x="-2798279" y="5674528"/>
            <a:ext cx="8768578" cy="8753056"/>
            <a:chOff x="0" y="0"/>
            <a:chExt cx="11691438" cy="11670742"/>
          </a:xfrm>
        </p:grpSpPr>
        <p:sp>
          <p:nvSpPr>
            <p:cNvPr id="8" name="Freeform 8"/>
            <p:cNvSpPr/>
            <p:nvPr/>
          </p:nvSpPr>
          <p:spPr>
            <a:xfrm rot="-7023068">
              <a:off x="1516426" y="1482334"/>
              <a:ext cx="8658586" cy="8706074"/>
            </a:xfrm>
            <a:custGeom>
              <a:avLst/>
              <a:gdLst/>
              <a:ahLst/>
              <a:cxnLst/>
              <a:rect l="l" t="t" r="r" b="b"/>
              <a:pathLst>
                <a:path w="8658586" h="8706074">
                  <a:moveTo>
                    <a:pt x="0" y="0"/>
                  </a:moveTo>
                  <a:lnTo>
                    <a:pt x="8658586" y="0"/>
                  </a:lnTo>
                  <a:lnTo>
                    <a:pt x="8658586" y="8706074"/>
                  </a:lnTo>
                  <a:lnTo>
                    <a:pt x="0" y="870607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rot="-1031629">
              <a:off x="1990850" y="1230761"/>
              <a:ext cx="6267189" cy="2199214"/>
            </a:xfrm>
            <a:custGeom>
              <a:avLst/>
              <a:gdLst/>
              <a:ahLst/>
              <a:cxnLst/>
              <a:rect l="l" t="t" r="r" b="b"/>
              <a:pathLst>
                <a:path w="6267189" h="2199214">
                  <a:moveTo>
                    <a:pt x="0" y="0"/>
                  </a:moveTo>
                  <a:lnTo>
                    <a:pt x="6267189" y="0"/>
                  </a:lnTo>
                  <a:lnTo>
                    <a:pt x="6267189" y="2199213"/>
                  </a:lnTo>
                  <a:lnTo>
                    <a:pt x="0" y="219921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0" name="Freeform 10"/>
            <p:cNvSpPr/>
            <p:nvPr/>
          </p:nvSpPr>
          <p:spPr>
            <a:xfrm rot="2909932" flipV="1">
              <a:off x="4832926" y="1805987"/>
              <a:ext cx="3267251" cy="5581154"/>
            </a:xfrm>
            <a:custGeom>
              <a:avLst/>
              <a:gdLst/>
              <a:ahLst/>
              <a:cxnLst/>
              <a:rect l="l" t="t" r="r" b="b"/>
              <a:pathLst>
                <a:path w="3267251" h="5581154">
                  <a:moveTo>
                    <a:pt x="0" y="5581154"/>
                  </a:moveTo>
                  <a:lnTo>
                    <a:pt x="3267251" y="5581154"/>
                  </a:lnTo>
                  <a:lnTo>
                    <a:pt x="3267251" y="0"/>
                  </a:lnTo>
                  <a:lnTo>
                    <a:pt x="0" y="0"/>
                  </a:lnTo>
                  <a:lnTo>
                    <a:pt x="0" y="5581154"/>
                  </a:lnTo>
                  <a:close/>
                </a:path>
              </a:pathLst>
            </a:custGeom>
            <a:blipFill>
              <a:blip r:embed="rId12">
                <a:extLst>
                  <a:ext uri="{96DAC541-7B7A-43D3-8B79-37D633B846F1}">
                    <asvg:svgBlip xmlns:asvg="http://schemas.microsoft.com/office/drawing/2016/SVG/main" r:embed="rId13"/>
                  </a:ext>
                </a:extLst>
              </a:blip>
              <a:stretch>
                <a:fillRect/>
              </a:stretch>
            </a:blipFill>
          </p:spPr>
        </p:sp>
      </p:grpSp>
      <p:sp>
        <p:nvSpPr>
          <p:cNvPr id="11" name="TextBox 11"/>
          <p:cNvSpPr txBox="1"/>
          <p:nvPr/>
        </p:nvSpPr>
        <p:spPr>
          <a:xfrm>
            <a:off x="6334816" y="6704167"/>
            <a:ext cx="8762478" cy="629920"/>
          </a:xfrm>
          <a:prstGeom prst="rect">
            <a:avLst/>
          </a:prstGeom>
        </p:spPr>
        <p:txBody>
          <a:bodyPr lIns="0" tIns="0" rIns="0" bIns="0" rtlCol="0" anchor="t">
            <a:spAutoFit/>
          </a:bodyPr>
          <a:lstStyle/>
          <a:p>
            <a:pPr algn="ctr">
              <a:lnSpc>
                <a:spcPts val="5179"/>
              </a:lnSpc>
            </a:pPr>
            <a:r>
              <a:rPr lang="en-US" sz="3699" b="1">
                <a:solidFill>
                  <a:srgbClr val="00694C"/>
                </a:solidFill>
                <a:latin typeface="Kulachat Serif Bold"/>
                <a:ea typeface="Kulachat Serif Bold"/>
                <a:cs typeface="Kulachat Serif Bold"/>
                <a:sym typeface="Kulachat Serif Bold"/>
              </a:rPr>
              <a:t>~Data Delvers</a:t>
            </a:r>
          </a:p>
        </p:txBody>
      </p:sp>
      <p:sp>
        <p:nvSpPr>
          <p:cNvPr id="12" name="Freeform 12"/>
          <p:cNvSpPr/>
          <p:nvPr/>
        </p:nvSpPr>
        <p:spPr>
          <a:xfrm rot="1363955" flipH="1">
            <a:off x="-1407618" y="-242438"/>
            <a:ext cx="3637262" cy="7928637"/>
          </a:xfrm>
          <a:custGeom>
            <a:avLst/>
            <a:gdLst/>
            <a:ahLst/>
            <a:cxnLst/>
            <a:rect l="l" t="t" r="r" b="b"/>
            <a:pathLst>
              <a:path w="3637262" h="7928637">
                <a:moveTo>
                  <a:pt x="3637262" y="0"/>
                </a:moveTo>
                <a:lnTo>
                  <a:pt x="0" y="0"/>
                </a:lnTo>
                <a:lnTo>
                  <a:pt x="0" y="7928637"/>
                </a:lnTo>
                <a:lnTo>
                  <a:pt x="3637262" y="7928637"/>
                </a:lnTo>
                <a:lnTo>
                  <a:pt x="3637262" y="0"/>
                </a:lnTo>
                <a:close/>
              </a:path>
            </a:pathLst>
          </a:custGeom>
          <a:blipFill>
            <a:blip r:embed="rId14">
              <a:alphaModFix amt="75000"/>
              <a:extLst>
                <a:ext uri="{96DAC541-7B7A-43D3-8B79-37D633B846F1}">
                  <asvg:svgBlip xmlns:asvg="http://schemas.microsoft.com/office/drawing/2016/SVG/main" r:embed="rId15"/>
                </a:ext>
              </a:extLst>
            </a:blip>
            <a:stretch>
              <a:fillRect/>
            </a:stretch>
          </a:blipFill>
        </p:spPr>
      </p:sp>
      <p:sp>
        <p:nvSpPr>
          <p:cNvPr id="13" name="Freeform 13"/>
          <p:cNvSpPr/>
          <p:nvPr/>
        </p:nvSpPr>
        <p:spPr>
          <a:xfrm>
            <a:off x="6763170" y="3234535"/>
            <a:ext cx="4620674" cy="3817930"/>
          </a:xfrm>
          <a:custGeom>
            <a:avLst/>
            <a:gdLst/>
            <a:ahLst/>
            <a:cxnLst/>
            <a:rect l="l" t="t" r="r" b="b"/>
            <a:pathLst>
              <a:path w="4620674" h="3817930">
                <a:moveTo>
                  <a:pt x="0" y="0"/>
                </a:moveTo>
                <a:lnTo>
                  <a:pt x="4620674" y="0"/>
                </a:lnTo>
                <a:lnTo>
                  <a:pt x="4620674" y="3817930"/>
                </a:lnTo>
                <a:lnTo>
                  <a:pt x="0" y="381793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982</Words>
  <Application>Microsoft Office PowerPoint</Application>
  <PresentationFormat>Custom</PresentationFormat>
  <Paragraphs>153</Paragraphs>
  <Slides>16</Slides>
  <Notes>0</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16</vt:i4>
      </vt:variant>
    </vt:vector>
  </HeadingPairs>
  <TitlesOfParts>
    <vt:vector size="33" baseType="lpstr">
      <vt:lpstr>Rodeqa Slab Italics</vt:lpstr>
      <vt:lpstr>DM Sans</vt:lpstr>
      <vt:lpstr>Raleway Semi-Bold</vt:lpstr>
      <vt:lpstr>Canva Sans Italics</vt:lpstr>
      <vt:lpstr>Arial</vt:lpstr>
      <vt:lpstr>Kulachat Serif Bold</vt:lpstr>
      <vt:lpstr>Raleway Bold</vt:lpstr>
      <vt:lpstr>Raleway Medium</vt:lpstr>
      <vt:lpstr>Atkinson Hyperlegible</vt:lpstr>
      <vt:lpstr>Canva Sans Bold</vt:lpstr>
      <vt:lpstr>Raleway Semi-Bold Italics</vt:lpstr>
      <vt:lpstr>Canva Sans</vt:lpstr>
      <vt:lpstr>Alegreya Sans</vt:lpstr>
      <vt:lpstr>Calibri</vt:lpstr>
      <vt:lpstr>TT Bluescreens Bold Italics</vt:lpstr>
      <vt:lpstr>DM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Public Health of Insights</dc:title>
  <dc:creator>lenka sai eswari</dc:creator>
  <cp:lastModifiedBy>lenka sai eswari</cp:lastModifiedBy>
  <cp:revision>2</cp:revision>
  <dcterms:created xsi:type="dcterms:W3CDTF">2006-08-16T00:00:00Z</dcterms:created>
  <dcterms:modified xsi:type="dcterms:W3CDTF">2024-09-10T04:35:13Z</dcterms:modified>
  <dc:identifier>DAGMt-3Nt7Y</dc:identifier>
</cp:coreProperties>
</file>